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59" r:id="rId3"/>
    <p:sldId id="279" r:id="rId4"/>
    <p:sldId id="274" r:id="rId5"/>
    <p:sldId id="281" r:id="rId6"/>
    <p:sldId id="280" r:id="rId7"/>
    <p:sldId id="257" r:id="rId8"/>
    <p:sldId id="261" r:id="rId9"/>
    <p:sldId id="262" r:id="rId10"/>
    <p:sldId id="272" r:id="rId11"/>
    <p:sldId id="263" r:id="rId12"/>
    <p:sldId id="273" r:id="rId13"/>
    <p:sldId id="275" r:id="rId14"/>
    <p:sldId id="276" r:id="rId15"/>
    <p:sldId id="277" r:id="rId16"/>
    <p:sldId id="278" r:id="rId17"/>
    <p:sldId id="26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2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052AA9-ADFF-472D-8E0F-D9B57E014994}"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522A6C-EA53-4237-94F1-454891CDCD3C}" type="slidenum">
              <a:rPr lang="en-IN" smtClean="0"/>
              <a:t>‹#›</a:t>
            </a:fld>
            <a:endParaRPr lang="en-IN"/>
          </a:p>
        </p:txBody>
      </p:sp>
    </p:spTree>
    <p:extLst>
      <p:ext uri="{BB962C8B-B14F-4D97-AF65-F5344CB8AC3E}">
        <p14:creationId xmlns:p14="http://schemas.microsoft.com/office/powerpoint/2010/main" val="1174322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052AA9-ADFF-472D-8E0F-D9B57E014994}"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522A6C-EA53-4237-94F1-454891CDCD3C}" type="slidenum">
              <a:rPr lang="en-IN" smtClean="0"/>
              <a:t>‹#›</a:t>
            </a:fld>
            <a:endParaRPr lang="en-IN"/>
          </a:p>
        </p:txBody>
      </p:sp>
    </p:spTree>
    <p:extLst>
      <p:ext uri="{BB962C8B-B14F-4D97-AF65-F5344CB8AC3E}">
        <p14:creationId xmlns:p14="http://schemas.microsoft.com/office/powerpoint/2010/main" val="3883419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052AA9-ADFF-472D-8E0F-D9B57E014994}"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522A6C-EA53-4237-94F1-454891CDCD3C}" type="slidenum">
              <a:rPr lang="en-IN" smtClean="0"/>
              <a:t>‹#›</a:t>
            </a:fld>
            <a:endParaRPr lang="en-IN"/>
          </a:p>
        </p:txBody>
      </p:sp>
    </p:spTree>
    <p:extLst>
      <p:ext uri="{BB962C8B-B14F-4D97-AF65-F5344CB8AC3E}">
        <p14:creationId xmlns:p14="http://schemas.microsoft.com/office/powerpoint/2010/main" val="2962625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052AA9-ADFF-472D-8E0F-D9B57E014994}"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522A6C-EA53-4237-94F1-454891CDCD3C}" type="slidenum">
              <a:rPr lang="en-IN" smtClean="0"/>
              <a:t>‹#›</a:t>
            </a:fld>
            <a:endParaRPr lang="en-IN"/>
          </a:p>
        </p:txBody>
      </p:sp>
    </p:spTree>
    <p:extLst>
      <p:ext uri="{BB962C8B-B14F-4D97-AF65-F5344CB8AC3E}">
        <p14:creationId xmlns:p14="http://schemas.microsoft.com/office/powerpoint/2010/main" val="2149640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052AA9-ADFF-472D-8E0F-D9B57E014994}" type="datetimeFigureOut">
              <a:rPr lang="en-IN" smtClean="0"/>
              <a:t>05-02-2026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8522A6C-EA53-4237-94F1-454891CDCD3C}" type="slidenum">
              <a:rPr lang="en-IN" smtClean="0"/>
              <a:t>‹#›</a:t>
            </a:fld>
            <a:endParaRPr lang="en-IN"/>
          </a:p>
        </p:txBody>
      </p:sp>
    </p:spTree>
    <p:extLst>
      <p:ext uri="{BB962C8B-B14F-4D97-AF65-F5344CB8AC3E}">
        <p14:creationId xmlns:p14="http://schemas.microsoft.com/office/powerpoint/2010/main" val="4253989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052AA9-ADFF-472D-8E0F-D9B57E014994}" type="datetimeFigureOut">
              <a:rPr lang="en-IN" smtClean="0"/>
              <a:t>05-02-2026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8522A6C-EA53-4237-94F1-454891CDCD3C}" type="slidenum">
              <a:rPr lang="en-IN" smtClean="0"/>
              <a:t>‹#›</a:t>
            </a:fld>
            <a:endParaRPr lang="en-IN"/>
          </a:p>
        </p:txBody>
      </p:sp>
    </p:spTree>
    <p:extLst>
      <p:ext uri="{BB962C8B-B14F-4D97-AF65-F5344CB8AC3E}">
        <p14:creationId xmlns:p14="http://schemas.microsoft.com/office/powerpoint/2010/main" val="3653576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052AA9-ADFF-472D-8E0F-D9B57E014994}" type="datetimeFigureOut">
              <a:rPr lang="en-IN" smtClean="0"/>
              <a:t>05-02-2026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8522A6C-EA53-4237-94F1-454891CDCD3C}" type="slidenum">
              <a:rPr lang="en-IN" smtClean="0"/>
              <a:t>‹#›</a:t>
            </a:fld>
            <a:endParaRPr lang="en-IN"/>
          </a:p>
        </p:txBody>
      </p:sp>
    </p:spTree>
    <p:extLst>
      <p:ext uri="{BB962C8B-B14F-4D97-AF65-F5344CB8AC3E}">
        <p14:creationId xmlns:p14="http://schemas.microsoft.com/office/powerpoint/2010/main" val="3266037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052AA9-ADFF-472D-8E0F-D9B57E014994}"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522A6C-EA53-4237-94F1-454891CDCD3C}" type="slidenum">
              <a:rPr lang="en-IN" smtClean="0"/>
              <a:t>‹#›</a:t>
            </a:fld>
            <a:endParaRPr lang="en-IN"/>
          </a:p>
        </p:txBody>
      </p:sp>
    </p:spTree>
    <p:extLst>
      <p:ext uri="{BB962C8B-B14F-4D97-AF65-F5344CB8AC3E}">
        <p14:creationId xmlns:p14="http://schemas.microsoft.com/office/powerpoint/2010/main" val="4209146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052AA9-ADFF-472D-8E0F-D9B57E014994}"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522A6C-EA53-4237-94F1-454891CDCD3C}" type="slidenum">
              <a:rPr lang="en-IN" smtClean="0"/>
              <a:t>‹#›</a:t>
            </a:fld>
            <a:endParaRPr lang="en-IN"/>
          </a:p>
        </p:txBody>
      </p:sp>
    </p:spTree>
    <p:extLst>
      <p:ext uri="{BB962C8B-B14F-4D97-AF65-F5344CB8AC3E}">
        <p14:creationId xmlns:p14="http://schemas.microsoft.com/office/powerpoint/2010/main" val="2221318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052AA9-ADFF-472D-8E0F-D9B57E014994}"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522A6C-EA53-4237-94F1-454891CDCD3C}" type="slidenum">
              <a:rPr lang="en-IN" smtClean="0"/>
              <a:t>‹#›</a:t>
            </a:fld>
            <a:endParaRPr lang="en-IN"/>
          </a:p>
        </p:txBody>
      </p:sp>
    </p:spTree>
    <p:extLst>
      <p:ext uri="{BB962C8B-B14F-4D97-AF65-F5344CB8AC3E}">
        <p14:creationId xmlns:p14="http://schemas.microsoft.com/office/powerpoint/2010/main" val="2757290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052AA9-ADFF-472D-8E0F-D9B57E014994}"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522A6C-EA53-4237-94F1-454891CDCD3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12866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052AA9-ADFF-472D-8E0F-D9B57E014994}"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522A6C-EA53-4237-94F1-454891CDCD3C}" type="slidenum">
              <a:rPr lang="en-IN" smtClean="0"/>
              <a:t>‹#›</a:t>
            </a:fld>
            <a:endParaRPr lang="en-IN"/>
          </a:p>
        </p:txBody>
      </p:sp>
    </p:spTree>
    <p:extLst>
      <p:ext uri="{BB962C8B-B14F-4D97-AF65-F5344CB8AC3E}">
        <p14:creationId xmlns:p14="http://schemas.microsoft.com/office/powerpoint/2010/main" val="3694792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052AA9-ADFF-472D-8E0F-D9B57E014994}"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522A6C-EA53-4237-94F1-454891CDCD3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003827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052AA9-ADFF-472D-8E0F-D9B57E014994}"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522A6C-EA53-4237-94F1-454891CDCD3C}" type="slidenum">
              <a:rPr lang="en-IN" smtClean="0"/>
              <a:t>‹#›</a:t>
            </a:fld>
            <a:endParaRPr lang="en-IN"/>
          </a:p>
        </p:txBody>
      </p:sp>
    </p:spTree>
    <p:extLst>
      <p:ext uri="{BB962C8B-B14F-4D97-AF65-F5344CB8AC3E}">
        <p14:creationId xmlns:p14="http://schemas.microsoft.com/office/powerpoint/2010/main" val="33526570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052AA9-ADFF-472D-8E0F-D9B57E014994}"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522A6C-EA53-4237-94F1-454891CDCD3C}" type="slidenum">
              <a:rPr lang="en-IN" smtClean="0"/>
              <a:t>‹#›</a:t>
            </a:fld>
            <a:endParaRPr lang="en-IN"/>
          </a:p>
        </p:txBody>
      </p:sp>
    </p:spTree>
    <p:extLst>
      <p:ext uri="{BB962C8B-B14F-4D97-AF65-F5344CB8AC3E}">
        <p14:creationId xmlns:p14="http://schemas.microsoft.com/office/powerpoint/2010/main" val="34123612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052AA9-ADFF-472D-8E0F-D9B57E014994}"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522A6C-EA53-4237-94F1-454891CDCD3C}" type="slidenum">
              <a:rPr lang="en-IN" smtClean="0"/>
              <a:t>‹#›</a:t>
            </a:fld>
            <a:endParaRPr lang="en-IN"/>
          </a:p>
        </p:txBody>
      </p:sp>
    </p:spTree>
    <p:extLst>
      <p:ext uri="{BB962C8B-B14F-4D97-AF65-F5344CB8AC3E}">
        <p14:creationId xmlns:p14="http://schemas.microsoft.com/office/powerpoint/2010/main" val="1496591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052AA9-ADFF-472D-8E0F-D9B57E014994}" type="datetimeFigureOut">
              <a:rPr lang="en-IN" smtClean="0"/>
              <a:t>05-02-2026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8522A6C-EA53-4237-94F1-454891CDCD3C}" type="slidenum">
              <a:rPr lang="en-IN" smtClean="0"/>
              <a:t>‹#›</a:t>
            </a:fld>
            <a:endParaRPr lang="en-IN"/>
          </a:p>
        </p:txBody>
      </p:sp>
    </p:spTree>
    <p:extLst>
      <p:ext uri="{BB962C8B-B14F-4D97-AF65-F5344CB8AC3E}">
        <p14:creationId xmlns:p14="http://schemas.microsoft.com/office/powerpoint/2010/main" val="3090247988"/>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D474F-AD3B-555B-87CB-DE4EFE5EAA3E}"/>
              </a:ext>
            </a:extLst>
          </p:cNvPr>
          <p:cNvSpPr>
            <a:spLocks noGrp="1"/>
          </p:cNvSpPr>
          <p:nvPr>
            <p:ph type="ctrTitle"/>
          </p:nvPr>
        </p:nvSpPr>
        <p:spPr>
          <a:xfrm>
            <a:off x="1507067" y="2404534"/>
            <a:ext cx="6341533" cy="1646302"/>
          </a:xfrm>
        </p:spPr>
        <p:txBody>
          <a:bodyPr/>
          <a:lstStyle/>
          <a:p>
            <a:r>
              <a:rPr lang="en-US" sz="5400" dirty="0">
                <a:ln w="0"/>
                <a:solidFill>
                  <a:schemeClr val="accent1">
                    <a:lumMod val="50000"/>
                  </a:schemeClr>
                </a:solidFill>
                <a:effectLst>
                  <a:reflection blurRad="6350" stA="53000" endA="300" endPos="35500" dir="5400000" sy="-90000" algn="bl" rotWithShape="0"/>
                </a:effectLst>
                <a:latin typeface="Century" panose="02040604050505020304" pitchFamily="18" charset="0"/>
              </a:rPr>
              <a:t>WEL-COME</a:t>
            </a:r>
            <a:endParaRPr lang="en-IN" dirty="0">
              <a:solidFill>
                <a:schemeClr val="accent1">
                  <a:lumMod val="50000"/>
                </a:schemeClr>
              </a:solidFill>
            </a:endParaRPr>
          </a:p>
        </p:txBody>
      </p:sp>
      <p:sp>
        <p:nvSpPr>
          <p:cNvPr id="3" name="Subtitle 2">
            <a:extLst>
              <a:ext uri="{FF2B5EF4-FFF2-40B4-BE49-F238E27FC236}">
                <a16:creationId xmlns:a16="http://schemas.microsoft.com/office/drawing/2014/main" id="{93480E18-D501-984B-B53C-3E043B33328A}"/>
              </a:ext>
            </a:extLst>
          </p:cNvPr>
          <p:cNvSpPr>
            <a:spLocks noGrp="1"/>
          </p:cNvSpPr>
          <p:nvPr>
            <p:ph type="subTitle" idx="1"/>
          </p:nvPr>
        </p:nvSpPr>
        <p:spPr>
          <a:xfrm flipH="1">
            <a:off x="11963163" y="3877293"/>
            <a:ext cx="56026" cy="173543"/>
          </a:xfrm>
        </p:spPr>
        <p:txBody>
          <a:bodyPr>
            <a:normAutofit fontScale="32500" lnSpcReduction="20000"/>
          </a:bodyPr>
          <a:lstStyle/>
          <a:p>
            <a:endParaRPr lang="en-IN" dirty="0"/>
          </a:p>
        </p:txBody>
      </p:sp>
    </p:spTree>
    <p:extLst>
      <p:ext uri="{BB962C8B-B14F-4D97-AF65-F5344CB8AC3E}">
        <p14:creationId xmlns:p14="http://schemas.microsoft.com/office/powerpoint/2010/main" val="3191194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DC2AD-C872-63C4-0E67-5D20A7769575}"/>
              </a:ext>
            </a:extLst>
          </p:cNvPr>
          <p:cNvSpPr>
            <a:spLocks noGrp="1"/>
          </p:cNvSpPr>
          <p:nvPr>
            <p:ph type="title"/>
          </p:nvPr>
        </p:nvSpPr>
        <p:spPr>
          <a:xfrm>
            <a:off x="2042159" y="441649"/>
            <a:ext cx="7567745" cy="789992"/>
          </a:xfrm>
        </p:spPr>
        <p:txBody>
          <a:bodyPr>
            <a:normAutofit/>
          </a:bodyPr>
          <a:lstStyle/>
          <a:p>
            <a:r>
              <a:rPr lang="en-US" sz="3200" b="1" dirty="0"/>
              <a:t> </a:t>
            </a:r>
            <a:r>
              <a:rPr lang="en-US" sz="3200" b="1" dirty="0">
                <a:solidFill>
                  <a:schemeClr val="accent2">
                    <a:lumMod val="75000"/>
                  </a:schemeClr>
                </a:solidFill>
              </a:rPr>
              <a:t>GOVERNMENT POLYTECHNIC ,KARAD </a:t>
            </a:r>
            <a:endParaRPr lang="en-IN" sz="3200" dirty="0">
              <a:solidFill>
                <a:schemeClr val="accent2">
                  <a:lumMod val="75000"/>
                </a:schemeClr>
              </a:solidFill>
            </a:endParaRPr>
          </a:p>
        </p:txBody>
      </p:sp>
      <p:sp>
        <p:nvSpPr>
          <p:cNvPr id="3" name="Content Placeholder 2">
            <a:extLst>
              <a:ext uri="{FF2B5EF4-FFF2-40B4-BE49-F238E27FC236}">
                <a16:creationId xmlns:a16="http://schemas.microsoft.com/office/drawing/2014/main" id="{2E0F8DDC-63B4-FA11-064F-77C6BC5D6038}"/>
              </a:ext>
            </a:extLst>
          </p:cNvPr>
          <p:cNvSpPr>
            <a:spLocks noGrp="1"/>
          </p:cNvSpPr>
          <p:nvPr>
            <p:ph idx="1"/>
          </p:nvPr>
        </p:nvSpPr>
        <p:spPr>
          <a:xfrm>
            <a:off x="0" y="2225040"/>
            <a:ext cx="10915883" cy="3749040"/>
          </a:xfrm>
        </p:spPr>
        <p:txBody>
          <a:bodyPr>
            <a:normAutofit/>
          </a:bodyPr>
          <a:lstStyle/>
          <a:p>
            <a:pPr marL="299085" marR="2540" indent="0" algn="ctr">
              <a:lnSpc>
                <a:spcPct val="107000"/>
              </a:lnSpc>
              <a:spcAft>
                <a:spcPts val="1045"/>
              </a:spcAft>
              <a:buNone/>
            </a:pPr>
            <a:r>
              <a:rPr lang="en-IN" sz="5400" b="1" kern="100" dirty="0">
                <a:solidFill>
                  <a:schemeClr val="accent2">
                    <a:lumMod val="75000"/>
                  </a:schemeClr>
                </a:solidFill>
                <a:effectLst/>
                <a:latin typeface="Century" panose="02040604050505020304" pitchFamily="18" charset="0"/>
                <a:ea typeface="Times New Roman" panose="02020603050405020304" pitchFamily="18" charset="0"/>
              </a:rPr>
              <a:t>Industrial Training [22049]</a:t>
            </a:r>
            <a:r>
              <a:rPr lang="en-IN" sz="5400" b="1" kern="100" dirty="0">
                <a:solidFill>
                  <a:schemeClr val="accent2">
                    <a:lumMod val="75000"/>
                  </a:schemeClr>
                </a:solidFill>
                <a:effectLst/>
                <a:latin typeface="Times New Roman" panose="02020603050405020304" pitchFamily="18" charset="0"/>
                <a:ea typeface="Times New Roman" panose="02020603050405020304" pitchFamily="18" charset="0"/>
              </a:rPr>
              <a:t> </a:t>
            </a:r>
            <a:endParaRPr lang="en-IN" sz="5400" kern="100" dirty="0">
              <a:solidFill>
                <a:schemeClr val="accent2">
                  <a:lumMod val="75000"/>
                </a:schemeClr>
              </a:solidFill>
              <a:effectLst/>
              <a:latin typeface="Times New Roman" panose="02020603050405020304" pitchFamily="18" charset="0"/>
              <a:ea typeface="Times New Roman" panose="02020603050405020304" pitchFamily="18" charset="0"/>
            </a:endParaRPr>
          </a:p>
          <a:p>
            <a:pPr marL="299085" marR="61595" indent="0" algn="ctr">
              <a:lnSpc>
                <a:spcPct val="107000"/>
              </a:lnSpc>
              <a:spcAft>
                <a:spcPts val="15"/>
              </a:spcAft>
              <a:buNone/>
            </a:pPr>
            <a:r>
              <a:rPr lang="en-IN" sz="5400" b="1" kern="100" dirty="0">
                <a:solidFill>
                  <a:schemeClr val="accent2">
                    <a:lumMod val="75000"/>
                  </a:schemeClr>
                </a:solidFill>
                <a:effectLst/>
                <a:latin typeface="Century" panose="02040604050505020304" pitchFamily="18" charset="0"/>
                <a:ea typeface="Times New Roman" panose="02020603050405020304" pitchFamily="18" charset="0"/>
              </a:rPr>
              <a:t>Summer-2023 </a:t>
            </a:r>
          </a:p>
          <a:p>
            <a:pPr marL="0" indent="0" algn="ctr">
              <a:buNone/>
            </a:pPr>
            <a:endParaRPr lang="en-IN" dirty="0"/>
          </a:p>
        </p:txBody>
      </p:sp>
      <p:sp>
        <p:nvSpPr>
          <p:cNvPr id="4" name="TextBox 3">
            <a:extLst>
              <a:ext uri="{FF2B5EF4-FFF2-40B4-BE49-F238E27FC236}">
                <a16:creationId xmlns:a16="http://schemas.microsoft.com/office/drawing/2014/main" id="{40BF9877-9F66-A490-CF9E-36464A55B8B4}"/>
              </a:ext>
            </a:extLst>
          </p:cNvPr>
          <p:cNvSpPr txBox="1"/>
          <p:nvPr/>
        </p:nvSpPr>
        <p:spPr>
          <a:xfrm>
            <a:off x="2819400" y="5355712"/>
            <a:ext cx="5623560" cy="1877437"/>
          </a:xfrm>
          <a:prstGeom prst="rect">
            <a:avLst/>
          </a:prstGeom>
          <a:noFill/>
        </p:spPr>
        <p:txBody>
          <a:bodyPr wrap="square" rtlCol="0">
            <a:spAutoFit/>
          </a:bodyPr>
          <a:lstStyle/>
          <a:p>
            <a:pPr marL="0" indent="0" algn="just">
              <a:buNone/>
            </a:pPr>
            <a:r>
              <a:rPr lang="en-US" sz="2000" dirty="0">
                <a:solidFill>
                  <a:schemeClr val="accent2">
                    <a:lumMod val="75000"/>
                  </a:schemeClr>
                </a:solidFill>
                <a:latin typeface="Century" panose="02040604050505020304" pitchFamily="18" charset="0"/>
              </a:rPr>
              <a:t>                               SUBMITTED BY,</a:t>
            </a:r>
          </a:p>
          <a:p>
            <a:pPr marL="0" indent="0" algn="just">
              <a:buNone/>
            </a:pPr>
            <a:r>
              <a:rPr lang="en-US" sz="2000" dirty="0">
                <a:latin typeface="Century" panose="020406040505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t>
            </a:r>
            <a:r>
              <a:rPr lang="en-IN" sz="2000" b="1" kern="100" dirty="0">
                <a:latin typeface="Times New Roman" panose="02020603050405020304" pitchFamily="18" charset="0"/>
                <a:cs typeface="Times New Roman" panose="02020603050405020304" pitchFamily="18" charset="0"/>
              </a:rPr>
              <a:t>Manaswi Pramod Bidkar</a:t>
            </a:r>
            <a:r>
              <a:rPr lang="en-IN"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buNone/>
            </a:pPr>
            <a:r>
              <a:rPr lang="en-US" sz="2000" b="1"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2000" b="1" kern="100" dirty="0" err="1">
                <a:latin typeface="Times New Roman" panose="02020603050405020304" pitchFamily="18" charset="0"/>
                <a:ea typeface="Times New Roman" panose="02020603050405020304" pitchFamily="18" charset="0"/>
                <a:cs typeface="Times New Roman" panose="02020603050405020304" pitchFamily="18" charset="0"/>
              </a:rPr>
              <a:t>Enrollment</a:t>
            </a:r>
            <a:r>
              <a:rPr lang="en-IN" sz="2000" b="1" kern="100" dirty="0">
                <a:latin typeface="Times New Roman" panose="02020603050405020304" pitchFamily="18" charset="0"/>
                <a:ea typeface="Times New Roman" panose="02020603050405020304" pitchFamily="18" charset="0"/>
                <a:cs typeface="Times New Roman" panose="02020603050405020304" pitchFamily="18" charset="0"/>
              </a:rPr>
              <a:t> No:2100100050</a:t>
            </a:r>
          </a:p>
          <a:p>
            <a:pPr marL="0" indent="0" algn="just">
              <a:buNone/>
            </a:pPr>
            <a:endParaRPr lang="en-IN" sz="20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IN" b="1"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6148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0757F-31FA-D09C-EF52-E25A9A4906DE}"/>
              </a:ext>
            </a:extLst>
          </p:cNvPr>
          <p:cNvSpPr>
            <a:spLocks noGrp="1"/>
          </p:cNvSpPr>
          <p:nvPr>
            <p:ph type="title"/>
          </p:nvPr>
        </p:nvSpPr>
        <p:spPr>
          <a:xfrm>
            <a:off x="677334" y="320040"/>
            <a:ext cx="8596668" cy="1320800"/>
          </a:xfrm>
        </p:spPr>
        <p:txBody>
          <a:bodyPr>
            <a:normAutofit/>
          </a:bodyPr>
          <a:lstStyle/>
          <a:p>
            <a:r>
              <a:rPr lang="en-IN" sz="4000" dirty="0">
                <a:solidFill>
                  <a:schemeClr val="accent2">
                    <a:lumMod val="75000"/>
                  </a:schemeClr>
                </a:solidFill>
              </a:rPr>
              <a:t>Contents</a:t>
            </a:r>
          </a:p>
        </p:txBody>
      </p:sp>
      <p:sp>
        <p:nvSpPr>
          <p:cNvPr id="3" name="Content Placeholder 2">
            <a:extLst>
              <a:ext uri="{FF2B5EF4-FFF2-40B4-BE49-F238E27FC236}">
                <a16:creationId xmlns:a16="http://schemas.microsoft.com/office/drawing/2014/main" id="{200028DC-36B5-F687-1647-E5C27A218B3A}"/>
              </a:ext>
            </a:extLst>
          </p:cNvPr>
          <p:cNvSpPr>
            <a:spLocks noGrp="1"/>
          </p:cNvSpPr>
          <p:nvPr>
            <p:ph idx="1"/>
          </p:nvPr>
        </p:nvSpPr>
        <p:spPr>
          <a:xfrm>
            <a:off x="677334" y="1398589"/>
            <a:ext cx="8596668" cy="4849811"/>
          </a:xfrm>
        </p:spPr>
        <p:txBody>
          <a:bodyPr/>
          <a:lstStyle/>
          <a:p>
            <a:r>
              <a:rPr lang="en-IN" sz="2000" kern="100" dirty="0">
                <a:solidFill>
                  <a:srgbClr val="000000"/>
                </a:solidFill>
                <a:effectLst/>
                <a:latin typeface="Times New Roman" panose="02020603050405020304" pitchFamily="18" charset="0"/>
                <a:ea typeface="Times New Roman" panose="02020603050405020304" pitchFamily="18" charset="0"/>
              </a:rPr>
              <a:t>Introduction And Organizational  Structure of Industry</a:t>
            </a:r>
          </a:p>
          <a:p>
            <a:endParaRPr lang="en-IN" sz="2000" dirty="0"/>
          </a:p>
          <a:p>
            <a:r>
              <a:rPr lang="en-IN" sz="2000" kern="100" dirty="0">
                <a:solidFill>
                  <a:srgbClr val="000000"/>
                </a:solidFill>
                <a:effectLst/>
                <a:latin typeface="Times New Roman" panose="02020603050405020304" pitchFamily="18" charset="0"/>
                <a:ea typeface="Times New Roman" panose="02020603050405020304" pitchFamily="18" charset="0"/>
              </a:rPr>
              <a:t>Technology Used in Training </a:t>
            </a:r>
          </a:p>
          <a:p>
            <a:endParaRPr lang="en-IN" sz="2000" dirty="0"/>
          </a:p>
          <a:p>
            <a:r>
              <a:rPr lang="en-IN" sz="2000" kern="100" dirty="0">
                <a:solidFill>
                  <a:srgbClr val="000000"/>
                </a:solidFill>
                <a:effectLst/>
                <a:latin typeface="Times New Roman" panose="02020603050405020304" pitchFamily="18" charset="0"/>
                <a:ea typeface="Times New Roman" panose="02020603050405020304" pitchFamily="18" charset="0"/>
              </a:rPr>
              <a:t>Technology Taught During the Training  </a:t>
            </a:r>
          </a:p>
          <a:p>
            <a:endParaRPr lang="en-IN" sz="2000" dirty="0"/>
          </a:p>
          <a:p>
            <a:r>
              <a:rPr lang="en-IN" sz="2000" dirty="0">
                <a:solidFill>
                  <a:srgbClr val="000000"/>
                </a:solidFill>
                <a:effectLst/>
                <a:latin typeface="Times New Roman" panose="02020603050405020304" pitchFamily="18" charset="0"/>
                <a:ea typeface="Times New Roman" panose="02020603050405020304" pitchFamily="18" charset="0"/>
              </a:rPr>
              <a:t>Worked On Project in Training </a:t>
            </a:r>
          </a:p>
          <a:p>
            <a:endParaRPr lang="en-IN" sz="2000" dirty="0">
              <a:solidFill>
                <a:srgbClr val="000000"/>
              </a:solidFill>
              <a:latin typeface="Times New Roman" panose="02020603050405020304" pitchFamily="18" charset="0"/>
            </a:endParaRPr>
          </a:p>
          <a:p>
            <a:r>
              <a:rPr lang="en-IN" sz="2000" dirty="0">
                <a:solidFill>
                  <a:srgbClr val="000000"/>
                </a:solidFill>
                <a:effectLst/>
                <a:latin typeface="Times New Roman" panose="02020603050405020304" pitchFamily="18" charset="0"/>
                <a:ea typeface="Times New Roman" panose="02020603050405020304" pitchFamily="18" charset="0"/>
              </a:rPr>
              <a:t>Experiences Encountered in Training </a:t>
            </a:r>
          </a:p>
          <a:p>
            <a:endParaRPr lang="en-IN" sz="2000" dirty="0">
              <a:solidFill>
                <a:srgbClr val="000000"/>
              </a:solidFill>
              <a:latin typeface="Times New Roman" panose="02020603050405020304" pitchFamily="18" charset="0"/>
              <a:ea typeface="Times New Roman" panose="02020603050405020304" pitchFamily="18" charset="0"/>
            </a:endParaRPr>
          </a:p>
          <a:p>
            <a:r>
              <a:rPr lang="en-IN" sz="2000" dirty="0">
                <a:solidFill>
                  <a:srgbClr val="000000"/>
                </a:solidFill>
                <a:effectLst/>
                <a:latin typeface="Times New Roman" panose="02020603050405020304" pitchFamily="18" charset="0"/>
                <a:ea typeface="Times New Roman" panose="02020603050405020304" pitchFamily="18" charset="0"/>
              </a:rPr>
              <a:t>Conclusion and References </a:t>
            </a:r>
          </a:p>
          <a:p>
            <a:endParaRPr lang="en-IN" sz="2000" dirty="0">
              <a:solidFill>
                <a:srgbClr val="000000"/>
              </a:solidFill>
              <a:latin typeface="Times New Roman" panose="02020603050405020304" pitchFamily="18" charset="0"/>
            </a:endParaRPr>
          </a:p>
          <a:p>
            <a:endParaRPr lang="en-IN" dirty="0"/>
          </a:p>
        </p:txBody>
      </p:sp>
    </p:spTree>
    <p:extLst>
      <p:ext uri="{BB962C8B-B14F-4D97-AF65-F5344CB8AC3E}">
        <p14:creationId xmlns:p14="http://schemas.microsoft.com/office/powerpoint/2010/main" val="1756874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E61DE-0325-0ABA-2D5D-29054D0634F3}"/>
              </a:ext>
            </a:extLst>
          </p:cNvPr>
          <p:cNvSpPr>
            <a:spLocks noGrp="1"/>
          </p:cNvSpPr>
          <p:nvPr>
            <p:ph type="title"/>
          </p:nvPr>
        </p:nvSpPr>
        <p:spPr>
          <a:xfrm>
            <a:off x="128694" y="2103120"/>
            <a:ext cx="10463106" cy="3459480"/>
          </a:xfrm>
        </p:spPr>
        <p:txBody>
          <a:bodyPr>
            <a:normAutofit fontScale="90000"/>
          </a:bodyPr>
          <a:lstStyle/>
          <a:p>
            <a:r>
              <a:rPr lang="en-IN" sz="6000" b="1" kern="100" dirty="0">
                <a:solidFill>
                  <a:schemeClr val="accent1">
                    <a:lumMod val="50000"/>
                  </a:schemeClr>
                </a:solidFill>
                <a:effectLst/>
                <a:latin typeface="Century" panose="02040604050505020304" pitchFamily="18" charset="0"/>
                <a:ea typeface="Times New Roman" panose="02020603050405020304" pitchFamily="18" charset="0"/>
              </a:rPr>
              <a:t>                     </a:t>
            </a:r>
            <a:r>
              <a:rPr lang="en-IN" sz="6000" b="1" kern="100" dirty="0">
                <a:solidFill>
                  <a:schemeClr val="accent2">
                    <a:lumMod val="75000"/>
                  </a:schemeClr>
                </a:solidFill>
                <a:effectLst/>
                <a:latin typeface="Century" panose="02040604050505020304" pitchFamily="18" charset="0"/>
                <a:ea typeface="Times New Roman" panose="02020603050405020304" pitchFamily="18" charset="0"/>
              </a:rPr>
              <a:t>Technology</a:t>
            </a:r>
            <a:br>
              <a:rPr lang="en-IN" sz="6000" b="1" kern="100" dirty="0">
                <a:solidFill>
                  <a:schemeClr val="accent1">
                    <a:lumMod val="50000"/>
                  </a:schemeClr>
                </a:solidFill>
                <a:effectLst/>
                <a:latin typeface="Century" panose="02040604050505020304" pitchFamily="18" charset="0"/>
                <a:ea typeface="Times New Roman" panose="02020603050405020304" pitchFamily="18" charset="0"/>
              </a:rPr>
            </a:br>
            <a:r>
              <a:rPr lang="en-IN" sz="6000" b="1" kern="100" dirty="0">
                <a:solidFill>
                  <a:schemeClr val="accent2">
                    <a:lumMod val="75000"/>
                  </a:schemeClr>
                </a:solidFill>
                <a:effectLst/>
                <a:latin typeface="Century" panose="02040604050505020304" pitchFamily="18" charset="0"/>
                <a:ea typeface="Times New Roman" panose="02020603050405020304" pitchFamily="18" charset="0"/>
              </a:rPr>
              <a:t>                          Used </a:t>
            </a:r>
            <a:br>
              <a:rPr lang="en-IN" sz="6000" b="1" kern="100" dirty="0">
                <a:solidFill>
                  <a:schemeClr val="accent2">
                    <a:lumMod val="75000"/>
                  </a:schemeClr>
                </a:solidFill>
                <a:effectLst/>
                <a:latin typeface="Century" panose="02040604050505020304" pitchFamily="18" charset="0"/>
                <a:ea typeface="Times New Roman" panose="02020603050405020304" pitchFamily="18" charset="0"/>
              </a:rPr>
            </a:br>
            <a:r>
              <a:rPr lang="en-IN" sz="6000" b="1" kern="100" dirty="0">
                <a:solidFill>
                  <a:schemeClr val="accent2">
                    <a:lumMod val="75000"/>
                  </a:schemeClr>
                </a:solidFill>
                <a:effectLst/>
                <a:latin typeface="Century" panose="02040604050505020304" pitchFamily="18" charset="0"/>
                <a:ea typeface="Times New Roman" panose="02020603050405020304" pitchFamily="18" charset="0"/>
              </a:rPr>
              <a:t>                     in Training </a:t>
            </a:r>
            <a:br>
              <a:rPr lang="en-IN" sz="6000" b="1" kern="100" dirty="0">
                <a:solidFill>
                  <a:srgbClr val="000000"/>
                </a:solidFill>
                <a:effectLst/>
                <a:latin typeface="Times New Roman" panose="02020603050405020304" pitchFamily="18" charset="0"/>
                <a:ea typeface="Times New Roman" panose="02020603050405020304" pitchFamily="18" charset="0"/>
              </a:rPr>
            </a:br>
            <a:br>
              <a:rPr lang="en-IN" sz="6000" b="1" kern="100" dirty="0">
                <a:solidFill>
                  <a:schemeClr val="accent2">
                    <a:lumMod val="75000"/>
                  </a:schemeClr>
                </a:solidFill>
                <a:effectLst/>
                <a:latin typeface="Century" panose="02040604050505020304" pitchFamily="18" charset="0"/>
                <a:ea typeface="Times New Roman" panose="02020603050405020304" pitchFamily="18" charset="0"/>
              </a:rPr>
            </a:br>
            <a:br>
              <a:rPr lang="en-IN" sz="5400" kern="100" dirty="0">
                <a:solidFill>
                  <a:schemeClr val="accent2">
                    <a:lumMod val="75000"/>
                  </a:schemeClr>
                </a:solidFill>
                <a:effectLst/>
                <a:latin typeface="Times New Roman" panose="02020603050405020304" pitchFamily="18" charset="0"/>
                <a:ea typeface="Times New Roman" panose="02020603050405020304" pitchFamily="18" charset="0"/>
              </a:rPr>
            </a:br>
            <a:endParaRPr lang="en-IN" sz="5400" dirty="0">
              <a:solidFill>
                <a:schemeClr val="accent2">
                  <a:lumMod val="75000"/>
                </a:schemeClr>
              </a:solidFill>
            </a:endParaRPr>
          </a:p>
        </p:txBody>
      </p:sp>
    </p:spTree>
    <p:extLst>
      <p:ext uri="{BB962C8B-B14F-4D97-AF65-F5344CB8AC3E}">
        <p14:creationId xmlns:p14="http://schemas.microsoft.com/office/powerpoint/2010/main" val="162136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BBB2506-AEFD-8046-494B-00B34061B796}"/>
              </a:ext>
            </a:extLst>
          </p:cNvPr>
          <p:cNvSpPr>
            <a:spLocks noGrp="1"/>
          </p:cNvSpPr>
          <p:nvPr>
            <p:ph idx="1"/>
          </p:nvPr>
        </p:nvSpPr>
        <p:spPr>
          <a:xfrm>
            <a:off x="403014" y="1508760"/>
            <a:ext cx="9960186" cy="5532119"/>
          </a:xfrm>
        </p:spPr>
        <p:txBody>
          <a:bodyPr/>
          <a:lstStyle/>
          <a:p>
            <a:r>
              <a:rPr lang="en-IN" sz="2800" dirty="0">
                <a:solidFill>
                  <a:schemeClr val="accent2">
                    <a:lumMod val="75000"/>
                  </a:schemeClr>
                </a:solidFill>
                <a:latin typeface="Century" panose="02040604050505020304" pitchFamily="18" charset="0"/>
              </a:rPr>
              <a:t>Software</a:t>
            </a:r>
            <a:r>
              <a:rPr lang="en-IN" sz="2400" dirty="0"/>
              <a:t>: </a:t>
            </a:r>
            <a:r>
              <a:rPr lang="en-IN" sz="2400" dirty="0">
                <a:latin typeface="Century" panose="02040604050505020304" pitchFamily="18" charset="0"/>
              </a:rPr>
              <a:t>Visual Studio,</a:t>
            </a:r>
            <a:r>
              <a:rPr lang="en-US" sz="2400" dirty="0">
                <a:latin typeface="Century" panose="02040604050505020304" pitchFamily="18" charset="0"/>
              </a:rPr>
              <a:t> </a:t>
            </a:r>
            <a:r>
              <a:rPr lang="en-IN" sz="2400" dirty="0">
                <a:latin typeface="Century" panose="02040604050505020304" pitchFamily="18" charset="0"/>
              </a:rPr>
              <a:t>Notepad++,Google Chrome,</a:t>
            </a:r>
            <a:r>
              <a:rPr lang="en-US" sz="2400" dirty="0">
                <a:latin typeface="Century" panose="02040604050505020304" pitchFamily="18" charset="0"/>
              </a:rPr>
              <a:t> </a:t>
            </a:r>
            <a:r>
              <a:rPr lang="en-IN" sz="2400" dirty="0" err="1">
                <a:latin typeface="Century" panose="02040604050505020304" pitchFamily="18" charset="0"/>
              </a:rPr>
              <a:t>UiPath</a:t>
            </a:r>
            <a:r>
              <a:rPr lang="en-IN" sz="2400" dirty="0">
                <a:latin typeface="Century" panose="02040604050505020304" pitchFamily="18" charset="0"/>
              </a:rPr>
              <a:t>    Assistant, Android Studio</a:t>
            </a:r>
          </a:p>
          <a:p>
            <a:pPr marL="0" indent="0">
              <a:buNone/>
            </a:pPr>
            <a:endParaRPr lang="en-IN" dirty="0"/>
          </a:p>
          <a:p>
            <a:r>
              <a:rPr lang="en-IN" sz="2800" dirty="0">
                <a:solidFill>
                  <a:schemeClr val="accent2">
                    <a:lumMod val="75000"/>
                  </a:schemeClr>
                </a:solidFill>
                <a:latin typeface="Century" panose="02040604050505020304" pitchFamily="18" charset="0"/>
              </a:rPr>
              <a:t>Devices: </a:t>
            </a:r>
            <a:r>
              <a:rPr lang="en-IN" sz="2400" dirty="0">
                <a:solidFill>
                  <a:schemeClr val="tx1">
                    <a:lumMod val="95000"/>
                    <a:lumOff val="5000"/>
                  </a:schemeClr>
                </a:solidFill>
                <a:latin typeface="Century" panose="02040604050505020304" pitchFamily="18" charset="0"/>
              </a:rPr>
              <a:t>100mbps hard drive,</a:t>
            </a:r>
            <a:r>
              <a:rPr lang="en-US" sz="2400" dirty="0">
                <a:solidFill>
                  <a:schemeClr val="tx1">
                    <a:lumMod val="95000"/>
                    <a:lumOff val="5000"/>
                  </a:schemeClr>
                </a:solidFill>
                <a:latin typeface="Century" panose="02040604050505020304" pitchFamily="18" charset="0"/>
              </a:rPr>
              <a:t> </a:t>
            </a:r>
            <a:r>
              <a:rPr lang="en-IN" sz="2400" dirty="0">
                <a:solidFill>
                  <a:schemeClr val="tx1">
                    <a:lumMod val="95000"/>
                    <a:lumOff val="5000"/>
                  </a:schemeClr>
                </a:solidFill>
                <a:latin typeface="Century" panose="02040604050505020304" pitchFamily="18" charset="0"/>
              </a:rPr>
              <a:t>Pen drives,</a:t>
            </a:r>
            <a:r>
              <a:rPr lang="en-US" sz="2400" dirty="0">
                <a:solidFill>
                  <a:schemeClr val="tx1">
                    <a:lumMod val="95000"/>
                    <a:lumOff val="5000"/>
                  </a:schemeClr>
                </a:solidFill>
                <a:latin typeface="Century" panose="02040604050505020304" pitchFamily="18" charset="0"/>
              </a:rPr>
              <a:t> </a:t>
            </a:r>
            <a:r>
              <a:rPr lang="en-IN" sz="2400" dirty="0">
                <a:solidFill>
                  <a:schemeClr val="tx1">
                    <a:lumMod val="95000"/>
                    <a:lumOff val="5000"/>
                  </a:schemeClr>
                </a:solidFill>
                <a:latin typeface="Century" panose="02040604050505020304" pitchFamily="18" charset="0"/>
              </a:rPr>
              <a:t>Mobile se</a:t>
            </a:r>
            <a:r>
              <a:rPr lang="en-US" sz="2400" dirty="0" err="1">
                <a:solidFill>
                  <a:schemeClr val="tx1">
                    <a:lumMod val="95000"/>
                    <a:lumOff val="5000"/>
                  </a:schemeClr>
                </a:solidFill>
                <a:latin typeface="Century" panose="02040604050505020304" pitchFamily="18" charset="0"/>
              </a:rPr>
              <a:t>rvices</a:t>
            </a:r>
            <a:r>
              <a:rPr lang="en-US" sz="2400" dirty="0">
                <a:solidFill>
                  <a:schemeClr val="tx1">
                    <a:lumMod val="95000"/>
                    <a:lumOff val="5000"/>
                  </a:schemeClr>
                </a:solidFill>
                <a:latin typeface="Century" panose="02040604050505020304" pitchFamily="18" charset="0"/>
              </a:rPr>
              <a:t> </a:t>
            </a:r>
            <a:r>
              <a:rPr lang="en-IN" sz="2400" dirty="0">
                <a:solidFill>
                  <a:schemeClr val="tx1">
                    <a:lumMod val="95000"/>
                    <a:lumOff val="5000"/>
                  </a:schemeClr>
                </a:solidFill>
                <a:latin typeface="Century" panose="02040604050505020304" pitchFamily="18" charset="0"/>
              </a:rPr>
              <a:t>to test mobile</a:t>
            </a:r>
          </a:p>
          <a:p>
            <a:pPr marL="0" indent="0">
              <a:buNone/>
            </a:pPr>
            <a:r>
              <a:rPr lang="en-IN" sz="2400" dirty="0">
                <a:solidFill>
                  <a:schemeClr val="tx1">
                    <a:lumMod val="95000"/>
                    <a:lumOff val="5000"/>
                  </a:schemeClr>
                </a:solidFill>
                <a:latin typeface="Century" panose="02040604050505020304" pitchFamily="18" charset="0"/>
              </a:rPr>
              <a:t>        view</a:t>
            </a:r>
          </a:p>
          <a:p>
            <a:pPr algn="ctr"/>
            <a:endParaRPr lang="en-IN" dirty="0">
              <a:solidFill>
                <a:schemeClr val="tx1">
                  <a:lumMod val="95000"/>
                  <a:lumOff val="5000"/>
                </a:schemeClr>
              </a:solidFill>
              <a:latin typeface="Century" panose="02040604050505020304" pitchFamily="18" charset="0"/>
            </a:endParaRPr>
          </a:p>
          <a:p>
            <a:r>
              <a:rPr lang="en-IN" sz="2800" dirty="0" err="1">
                <a:solidFill>
                  <a:schemeClr val="accent2">
                    <a:lumMod val="75000"/>
                  </a:schemeClr>
                </a:solidFill>
                <a:latin typeface="Century" panose="02040604050505020304" pitchFamily="18" charset="0"/>
              </a:rPr>
              <a:t>Loptop</a:t>
            </a:r>
            <a:r>
              <a:rPr lang="en-IN" sz="2400" dirty="0">
                <a:solidFill>
                  <a:schemeClr val="accent2">
                    <a:lumMod val="75000"/>
                  </a:schemeClr>
                </a:solidFill>
                <a:latin typeface="Century" panose="02040604050505020304" pitchFamily="18" charset="0"/>
              </a:rPr>
              <a:t>: </a:t>
            </a:r>
            <a:r>
              <a:rPr lang="en-IN" sz="2400" dirty="0">
                <a:solidFill>
                  <a:schemeClr val="tx1">
                    <a:lumMod val="95000"/>
                    <a:lumOff val="5000"/>
                  </a:schemeClr>
                </a:solidFill>
                <a:latin typeface="Century" panose="02040604050505020304" pitchFamily="18" charset="0"/>
              </a:rPr>
              <a:t>Hp i5 processor,8GB RAM,512 GB SSD,</a:t>
            </a:r>
            <a:r>
              <a:rPr lang="en-US" sz="2400" dirty="0">
                <a:solidFill>
                  <a:schemeClr val="tx1">
                    <a:lumMod val="95000"/>
                    <a:lumOff val="5000"/>
                  </a:schemeClr>
                </a:solidFill>
                <a:latin typeface="Century" panose="02040604050505020304" pitchFamily="18" charset="0"/>
              </a:rPr>
              <a:t> </a:t>
            </a:r>
            <a:r>
              <a:rPr lang="en-IN" sz="2400" dirty="0">
                <a:solidFill>
                  <a:schemeClr val="tx1">
                    <a:lumMod val="95000"/>
                    <a:lumOff val="5000"/>
                  </a:schemeClr>
                </a:solidFill>
                <a:latin typeface="Century" panose="02040604050505020304" pitchFamily="18" charset="0"/>
              </a:rPr>
              <a:t>Windows 11</a:t>
            </a:r>
            <a:endParaRPr lang="en-IN" sz="2400" dirty="0">
              <a:solidFill>
                <a:schemeClr val="tx1">
                  <a:lumMod val="95000"/>
                  <a:lumOff val="5000"/>
                </a:schemeClr>
              </a:solidFill>
            </a:endParaRPr>
          </a:p>
          <a:p>
            <a:pPr marL="0" indent="0" algn="ctr">
              <a:buNone/>
            </a:pPr>
            <a:endParaRPr lang="en-IN" sz="2400" dirty="0"/>
          </a:p>
        </p:txBody>
      </p:sp>
    </p:spTree>
    <p:extLst>
      <p:ext uri="{BB962C8B-B14F-4D97-AF65-F5344CB8AC3E}">
        <p14:creationId xmlns:p14="http://schemas.microsoft.com/office/powerpoint/2010/main" val="334276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E61DE-0325-0ABA-2D5D-29054D0634F3}"/>
              </a:ext>
            </a:extLst>
          </p:cNvPr>
          <p:cNvSpPr>
            <a:spLocks noGrp="1"/>
          </p:cNvSpPr>
          <p:nvPr>
            <p:ph type="title"/>
          </p:nvPr>
        </p:nvSpPr>
        <p:spPr>
          <a:xfrm>
            <a:off x="1728894" y="1973233"/>
            <a:ext cx="10463106" cy="3459480"/>
          </a:xfrm>
        </p:spPr>
        <p:txBody>
          <a:bodyPr>
            <a:normAutofit fontScale="90000"/>
          </a:bodyPr>
          <a:lstStyle/>
          <a:p>
            <a:br>
              <a:rPr lang="en-US" sz="5400" b="1" kern="100" dirty="0">
                <a:solidFill>
                  <a:schemeClr val="accent2">
                    <a:lumMod val="75000"/>
                  </a:schemeClr>
                </a:solidFill>
                <a:effectLst/>
                <a:latin typeface="Century" panose="02040604050505020304" pitchFamily="18" charset="0"/>
                <a:ea typeface="Times New Roman" panose="02020603050405020304" pitchFamily="18" charset="0"/>
              </a:rPr>
            </a:br>
            <a:r>
              <a:rPr lang="en-US" sz="5400" b="1" kern="100" dirty="0">
                <a:solidFill>
                  <a:schemeClr val="accent2">
                    <a:lumMod val="75000"/>
                  </a:schemeClr>
                </a:solidFill>
                <a:effectLst/>
                <a:latin typeface="Century" panose="02040604050505020304" pitchFamily="18" charset="0"/>
                <a:ea typeface="Times New Roman" panose="02020603050405020304" pitchFamily="18" charset="0"/>
              </a:rPr>
              <a:t>                </a:t>
            </a:r>
            <a:r>
              <a:rPr lang="en-IN" sz="5400" b="1" kern="100" dirty="0">
                <a:solidFill>
                  <a:schemeClr val="accent2">
                    <a:lumMod val="75000"/>
                  </a:schemeClr>
                </a:solidFill>
                <a:effectLst/>
                <a:latin typeface="Century" panose="02040604050505020304" pitchFamily="18" charset="0"/>
                <a:ea typeface="Times New Roman" panose="02020603050405020304" pitchFamily="18" charset="0"/>
              </a:rPr>
              <a:t>Technology </a:t>
            </a:r>
            <a:br>
              <a:rPr lang="en-US" sz="5400" b="1" kern="100" dirty="0">
                <a:solidFill>
                  <a:schemeClr val="accent2">
                    <a:lumMod val="75000"/>
                  </a:schemeClr>
                </a:solidFill>
                <a:effectLst/>
                <a:latin typeface="Century" panose="02040604050505020304" pitchFamily="18" charset="0"/>
                <a:ea typeface="Times New Roman" panose="02020603050405020304" pitchFamily="18" charset="0"/>
              </a:rPr>
            </a:br>
            <a:r>
              <a:rPr lang="en-US" sz="5400" b="1" kern="100" dirty="0">
                <a:solidFill>
                  <a:schemeClr val="accent2">
                    <a:lumMod val="75000"/>
                  </a:schemeClr>
                </a:solidFill>
                <a:effectLst/>
                <a:latin typeface="Century" panose="02040604050505020304" pitchFamily="18" charset="0"/>
                <a:ea typeface="Times New Roman" panose="02020603050405020304" pitchFamily="18" charset="0"/>
              </a:rPr>
              <a:t>                  </a:t>
            </a:r>
            <a:r>
              <a:rPr lang="en-IN" sz="5400" b="1" kern="100" dirty="0">
                <a:solidFill>
                  <a:schemeClr val="accent2">
                    <a:lumMod val="75000"/>
                  </a:schemeClr>
                </a:solidFill>
                <a:effectLst/>
                <a:latin typeface="Century" panose="02040604050505020304" pitchFamily="18" charset="0"/>
                <a:ea typeface="Times New Roman" panose="02020603050405020304" pitchFamily="18" charset="0"/>
              </a:rPr>
              <a:t>Taught</a:t>
            </a:r>
            <a:br>
              <a:rPr lang="en-US" sz="5400" b="1" kern="100" dirty="0">
                <a:solidFill>
                  <a:schemeClr val="accent2">
                    <a:lumMod val="75000"/>
                  </a:schemeClr>
                </a:solidFill>
                <a:effectLst/>
                <a:latin typeface="Century" panose="02040604050505020304" pitchFamily="18" charset="0"/>
                <a:ea typeface="Times New Roman" panose="02020603050405020304" pitchFamily="18" charset="0"/>
              </a:rPr>
            </a:br>
            <a:r>
              <a:rPr lang="en-US" sz="5400" b="1" kern="100" dirty="0">
                <a:solidFill>
                  <a:schemeClr val="accent2">
                    <a:lumMod val="75000"/>
                  </a:schemeClr>
                </a:solidFill>
                <a:effectLst/>
                <a:latin typeface="Century" panose="02040604050505020304" pitchFamily="18" charset="0"/>
                <a:ea typeface="Times New Roman" panose="02020603050405020304" pitchFamily="18" charset="0"/>
              </a:rPr>
              <a:t>       </a:t>
            </a:r>
            <a:r>
              <a:rPr lang="en-IN" sz="5400" b="1" kern="100" dirty="0">
                <a:solidFill>
                  <a:schemeClr val="accent2">
                    <a:lumMod val="75000"/>
                  </a:schemeClr>
                </a:solidFill>
                <a:effectLst/>
                <a:latin typeface="Century" panose="02040604050505020304" pitchFamily="18" charset="0"/>
                <a:ea typeface="Times New Roman" panose="02020603050405020304" pitchFamily="18" charset="0"/>
              </a:rPr>
              <a:t> During the Training</a:t>
            </a:r>
            <a:br>
              <a:rPr lang="en-US" sz="5400" b="1" kern="100" dirty="0">
                <a:solidFill>
                  <a:schemeClr val="accent2">
                    <a:lumMod val="75000"/>
                  </a:schemeClr>
                </a:solidFill>
                <a:effectLst/>
                <a:latin typeface="Century" panose="02040604050505020304" pitchFamily="18" charset="0"/>
                <a:ea typeface="Times New Roman" panose="02020603050405020304" pitchFamily="18" charset="0"/>
              </a:rPr>
            </a:br>
            <a:br>
              <a:rPr lang="en-IN" sz="5400" b="1" kern="100" dirty="0">
                <a:solidFill>
                  <a:schemeClr val="accent2">
                    <a:lumMod val="75000"/>
                  </a:schemeClr>
                </a:solidFill>
                <a:effectLst/>
                <a:latin typeface="Century" panose="02040604050505020304" pitchFamily="18" charset="0"/>
                <a:ea typeface="Times New Roman" panose="02020603050405020304" pitchFamily="18" charset="0"/>
              </a:rPr>
            </a:br>
            <a:endParaRPr lang="en-IN" sz="5400" b="1" dirty="0">
              <a:solidFill>
                <a:schemeClr val="accent2">
                  <a:lumMod val="75000"/>
                </a:schemeClr>
              </a:solidFill>
              <a:latin typeface="Century" panose="02040604050505020304" pitchFamily="18" charset="0"/>
            </a:endParaRPr>
          </a:p>
        </p:txBody>
      </p:sp>
    </p:spTree>
    <p:extLst>
      <p:ext uri="{BB962C8B-B14F-4D97-AF65-F5344CB8AC3E}">
        <p14:creationId xmlns:p14="http://schemas.microsoft.com/office/powerpoint/2010/main" val="2121273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85A85-5403-AA70-EDB2-22FDA9F410C9}"/>
              </a:ext>
            </a:extLst>
          </p:cNvPr>
          <p:cNvSpPr>
            <a:spLocks noGrp="1"/>
          </p:cNvSpPr>
          <p:nvPr>
            <p:ph type="title"/>
          </p:nvPr>
        </p:nvSpPr>
        <p:spPr>
          <a:xfrm>
            <a:off x="410172" y="563880"/>
            <a:ext cx="8572962" cy="681966"/>
          </a:xfrm>
        </p:spPr>
        <p:txBody>
          <a:bodyPr>
            <a:normAutofit fontScale="90000"/>
          </a:bodyPr>
          <a:lstStyle/>
          <a:p>
            <a:r>
              <a:rPr lang="en-US" sz="4400" dirty="0"/>
              <a:t>HTML(</a:t>
            </a:r>
            <a:r>
              <a:rPr lang="en-US" sz="3100" dirty="0">
                <a:effectLst/>
                <a:latin typeface="Times New Roman" panose="02020603050405020304" pitchFamily="18" charset="0"/>
                <a:ea typeface="Times New Roman" panose="02020603050405020304" pitchFamily="18" charset="0"/>
              </a:rPr>
              <a:t>Hyper Text</a:t>
            </a:r>
            <a:r>
              <a:rPr lang="en-US" sz="3100" spc="10" dirty="0">
                <a:effectLst/>
                <a:latin typeface="Times New Roman" panose="02020603050405020304" pitchFamily="18" charset="0"/>
                <a:ea typeface="Times New Roman" panose="02020603050405020304" pitchFamily="18" charset="0"/>
              </a:rPr>
              <a:t> </a:t>
            </a:r>
            <a:r>
              <a:rPr lang="en-US" sz="3100" dirty="0">
                <a:effectLst/>
                <a:latin typeface="Times New Roman" panose="02020603050405020304" pitchFamily="18" charset="0"/>
                <a:ea typeface="Times New Roman" panose="02020603050405020304" pitchFamily="18" charset="0"/>
              </a:rPr>
              <a:t>Mark-up</a:t>
            </a:r>
            <a:r>
              <a:rPr lang="en-US" sz="3100" spc="10" dirty="0">
                <a:effectLst/>
                <a:latin typeface="Times New Roman" panose="02020603050405020304" pitchFamily="18" charset="0"/>
                <a:ea typeface="Times New Roman" panose="02020603050405020304" pitchFamily="18" charset="0"/>
              </a:rPr>
              <a:t> </a:t>
            </a:r>
            <a:r>
              <a:rPr lang="en-US" sz="3100" dirty="0">
                <a:effectLst/>
                <a:latin typeface="Times New Roman" panose="02020603050405020304" pitchFamily="18" charset="0"/>
                <a:ea typeface="Times New Roman" panose="02020603050405020304" pitchFamily="18" charset="0"/>
              </a:rPr>
              <a:t>Language</a:t>
            </a:r>
            <a:r>
              <a:rPr lang="en-US" sz="4400" dirty="0"/>
              <a:t>)</a:t>
            </a:r>
            <a:br>
              <a:rPr lang="en-US" sz="1600" dirty="0"/>
            </a:br>
            <a:endParaRPr lang="en-IN" sz="3200" dirty="0"/>
          </a:p>
        </p:txBody>
      </p:sp>
      <p:sp>
        <p:nvSpPr>
          <p:cNvPr id="3" name="Content Placeholder 2">
            <a:extLst>
              <a:ext uri="{FF2B5EF4-FFF2-40B4-BE49-F238E27FC236}">
                <a16:creationId xmlns:a16="http://schemas.microsoft.com/office/drawing/2014/main" id="{AD536C06-13FC-07A9-C801-6086F1814A6E}"/>
              </a:ext>
            </a:extLst>
          </p:cNvPr>
          <p:cNvSpPr>
            <a:spLocks noGrp="1"/>
          </p:cNvSpPr>
          <p:nvPr>
            <p:ph idx="1"/>
          </p:nvPr>
        </p:nvSpPr>
        <p:spPr>
          <a:xfrm>
            <a:off x="410171" y="1432560"/>
            <a:ext cx="10110623" cy="5425440"/>
          </a:xfrm>
        </p:spPr>
        <p:txBody>
          <a:bodyPr>
            <a:normAutofit/>
          </a:bodyPr>
          <a:lstStyle/>
          <a:p>
            <a:pPr marL="610870" marR="2012950">
              <a:lnSpc>
                <a:spcPct val="186000"/>
              </a:lnSpc>
            </a:pPr>
            <a:r>
              <a:rPr lang="en-US" sz="2400" dirty="0">
                <a:effectLst/>
                <a:latin typeface="Times New Roman" panose="02020603050405020304" pitchFamily="18" charset="0"/>
                <a:ea typeface="Times New Roman" panose="02020603050405020304" pitchFamily="18" charset="0"/>
              </a:rPr>
              <a:t>HTML is the standard mark-up language for creating Web pages.</a:t>
            </a:r>
            <a:r>
              <a:rPr lang="en-US" sz="2400" spc="-29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HTML</a:t>
            </a:r>
            <a:r>
              <a:rPr lang="en-US" sz="2400" spc="-3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stands</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for</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Hyper Text</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Mark-up</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Language</a:t>
            </a:r>
            <a:endParaRPr lang="en-IN" sz="2400" dirty="0">
              <a:effectLst/>
              <a:latin typeface="Times New Roman" panose="02020603050405020304" pitchFamily="18" charset="0"/>
              <a:ea typeface="Times New Roman" panose="02020603050405020304" pitchFamily="18" charset="0"/>
            </a:endParaRPr>
          </a:p>
          <a:p>
            <a:pPr marL="610870" marR="2367915">
              <a:lnSpc>
                <a:spcPct val="186000"/>
              </a:lnSpc>
              <a:spcBef>
                <a:spcPts val="10"/>
              </a:spcBef>
            </a:pPr>
            <a:r>
              <a:rPr lang="en-US" sz="2400" dirty="0">
                <a:effectLst/>
                <a:latin typeface="Times New Roman" panose="02020603050405020304" pitchFamily="18" charset="0"/>
                <a:ea typeface="Times New Roman" panose="02020603050405020304" pitchFamily="18" charset="0"/>
              </a:rPr>
              <a:t>HTML describes the structure of Web pages using mark-up</a:t>
            </a:r>
            <a:r>
              <a:rPr lang="en-US" sz="2400" spc="-28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HTML elements are the building blocks of HTML pages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HTML</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elements are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represented by</a:t>
            </a:r>
            <a:r>
              <a:rPr lang="en-US" sz="2400" spc="-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tags</a:t>
            </a:r>
            <a:r>
              <a:rPr lang="en-US" sz="2400" dirty="0">
                <a:latin typeface="Times New Roman" panose="02020603050405020304" pitchFamily="18" charset="0"/>
                <a:ea typeface="Times New Roman" panose="02020603050405020304" pitchFamily="18" charset="0"/>
              </a:rPr>
              <a:t>.</a:t>
            </a:r>
          </a:p>
          <a:p>
            <a:pPr marL="610870" marR="2367915">
              <a:lnSpc>
                <a:spcPct val="186000"/>
              </a:lnSpc>
              <a:spcBef>
                <a:spcPts val="10"/>
              </a:spcBef>
            </a:pPr>
            <a:r>
              <a:rPr lang="en-US" sz="2400" dirty="0">
                <a:effectLst/>
                <a:latin typeface="Times New Roman" panose="02020603050405020304" pitchFamily="18" charset="0"/>
                <a:ea typeface="Times New Roman" panose="02020603050405020304" pitchFamily="18" charset="0"/>
              </a:rPr>
              <a:t>HTML</a:t>
            </a:r>
            <a:r>
              <a:rPr lang="en-US" sz="2400" spc="-4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tags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label</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pieces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content</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such</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"heading",</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"paragraph", "table",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so</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on</a:t>
            </a:r>
            <a:endParaRPr lang="en-IN" sz="2400" dirty="0">
              <a:effectLst/>
              <a:latin typeface="Times New Roman" panose="02020603050405020304" pitchFamily="18" charset="0"/>
              <a:ea typeface="Times New Roman" panose="02020603050405020304" pitchFamily="18" charset="0"/>
            </a:endParaRPr>
          </a:p>
          <a:p>
            <a:pPr marL="0" marR="152400" lvl="0" indent="0" algn="just">
              <a:lnSpc>
                <a:spcPct val="107000"/>
              </a:lnSpc>
              <a:spcAft>
                <a:spcPts val="1440"/>
              </a:spcAft>
              <a:buNone/>
            </a:pPr>
            <a:endParaRPr lang="en-US" dirty="0"/>
          </a:p>
        </p:txBody>
      </p:sp>
    </p:spTree>
    <p:extLst>
      <p:ext uri="{BB962C8B-B14F-4D97-AF65-F5344CB8AC3E}">
        <p14:creationId xmlns:p14="http://schemas.microsoft.com/office/powerpoint/2010/main" val="4196454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1C179-7C2F-F837-7BB7-C61BAD2A75C5}"/>
              </a:ext>
            </a:extLst>
          </p:cNvPr>
          <p:cNvSpPr>
            <a:spLocks noGrp="1"/>
          </p:cNvSpPr>
          <p:nvPr>
            <p:ph type="title"/>
          </p:nvPr>
        </p:nvSpPr>
        <p:spPr>
          <a:xfrm>
            <a:off x="677334" y="609600"/>
            <a:ext cx="8596668" cy="1082040"/>
          </a:xfrm>
        </p:spPr>
        <p:txBody>
          <a:bodyPr>
            <a:normAutofit/>
          </a:bodyPr>
          <a:lstStyle/>
          <a:p>
            <a:r>
              <a:rPr lang="en-IN" sz="4000" dirty="0"/>
              <a:t>CSS(</a:t>
            </a:r>
            <a:r>
              <a:rPr lang="en-US" sz="2800" dirty="0">
                <a:effectLst/>
                <a:latin typeface="Times New Roman" panose="02020603050405020304" pitchFamily="18" charset="0"/>
                <a:ea typeface="Times New Roman" panose="02020603050405020304" pitchFamily="18" charset="0"/>
              </a:rPr>
              <a:t>Cascading Style Sheets</a:t>
            </a:r>
            <a:r>
              <a:rPr lang="en-IN" sz="4000" dirty="0"/>
              <a:t>)</a:t>
            </a:r>
          </a:p>
        </p:txBody>
      </p:sp>
      <p:sp>
        <p:nvSpPr>
          <p:cNvPr id="3" name="Content Placeholder 2">
            <a:extLst>
              <a:ext uri="{FF2B5EF4-FFF2-40B4-BE49-F238E27FC236}">
                <a16:creationId xmlns:a16="http://schemas.microsoft.com/office/drawing/2014/main" id="{0B9543FB-A08E-244D-A47C-3531B85A683B}"/>
              </a:ext>
            </a:extLst>
          </p:cNvPr>
          <p:cNvSpPr>
            <a:spLocks noGrp="1"/>
          </p:cNvSpPr>
          <p:nvPr>
            <p:ph idx="1"/>
          </p:nvPr>
        </p:nvSpPr>
        <p:spPr>
          <a:xfrm>
            <a:off x="257456" y="1156996"/>
            <a:ext cx="9679024" cy="5091404"/>
          </a:xfrm>
        </p:spPr>
        <p:txBody>
          <a:bodyPr>
            <a:normAutofit fontScale="92500" lnSpcReduction="20000"/>
          </a:bodyPr>
          <a:lstStyle/>
          <a:p>
            <a:pPr marL="782320" indent="-457200">
              <a:lnSpc>
                <a:spcPct val="200000"/>
              </a:lnSpc>
            </a:pPr>
            <a:r>
              <a:rPr lang="en-US" sz="2600" dirty="0">
                <a:solidFill>
                  <a:srgbClr val="000000"/>
                </a:solidFill>
                <a:effectLst/>
                <a:latin typeface="Times New Roman" panose="02020603050405020304" pitchFamily="18" charset="0"/>
                <a:ea typeface="Times New Roman" panose="02020603050405020304" pitchFamily="18" charset="0"/>
              </a:rPr>
              <a:t>CSS stands for Cascading Style Sheet.</a:t>
            </a:r>
          </a:p>
          <a:p>
            <a:pPr marL="782320" indent="-457200">
              <a:lnSpc>
                <a:spcPct val="200000"/>
              </a:lnSpc>
            </a:pPr>
            <a:r>
              <a:rPr lang="en-US" sz="2600" dirty="0">
                <a:solidFill>
                  <a:srgbClr val="000000"/>
                </a:solidFill>
                <a:effectLst/>
                <a:latin typeface="Times New Roman" panose="02020603050405020304" pitchFamily="18" charset="0"/>
                <a:ea typeface="Times New Roman" panose="02020603050405020304" pitchFamily="18" charset="0"/>
              </a:rPr>
              <a:t>CSS describes how HTML elements are to be displayed on screen, paper, or in other media CSS saves a lot of work. It can control the layout of multiple web pages all at once.</a:t>
            </a:r>
          </a:p>
          <a:p>
            <a:pPr marL="782320" indent="-457200">
              <a:lnSpc>
                <a:spcPct val="200000"/>
              </a:lnSpc>
            </a:pPr>
            <a:r>
              <a:rPr lang="en-US" sz="2600" dirty="0">
                <a:solidFill>
                  <a:srgbClr val="000000"/>
                </a:solidFill>
                <a:effectLst/>
                <a:latin typeface="Times New Roman" panose="02020603050405020304" pitchFamily="18" charset="0"/>
                <a:ea typeface="Times New Roman" panose="02020603050405020304" pitchFamily="18" charset="0"/>
              </a:rPr>
              <a:t>External</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600" dirty="0">
                <a:solidFill>
                  <a:srgbClr val="000000"/>
                </a:solidFill>
                <a:effectLst/>
                <a:latin typeface="Times New Roman" panose="02020603050405020304" pitchFamily="18" charset="0"/>
                <a:ea typeface="Times New Roman" panose="02020603050405020304" pitchFamily="18" charset="0"/>
              </a:rPr>
              <a:t>stylesheets are stored in CSS files</a:t>
            </a:r>
            <a:endParaRPr lang="en-IN" sz="2600" dirty="0">
              <a:effectLst/>
              <a:latin typeface="Times New Roman" panose="02020603050405020304" pitchFamily="18" charset="0"/>
              <a:ea typeface="Times New Roman" panose="02020603050405020304" pitchFamily="18" charset="0"/>
            </a:endParaRPr>
          </a:p>
          <a:p>
            <a:pPr lvl="1" indent="-342900">
              <a:lnSpc>
                <a:spcPct val="150000"/>
              </a:lnSpc>
              <a:spcBef>
                <a:spcPts val="685"/>
              </a:spcBef>
              <a:buFont typeface="+mj-lt"/>
              <a:buAutoNum type="arabicPeriod"/>
            </a:pPr>
            <a:r>
              <a:rPr lang="en-US" sz="2400" dirty="0">
                <a:solidFill>
                  <a:srgbClr val="000000"/>
                </a:solidFill>
                <a:effectLst/>
                <a:latin typeface="Times New Roman" panose="02020603050405020304" pitchFamily="18" charset="0"/>
                <a:ea typeface="Times New Roman" panose="02020603050405020304" pitchFamily="18" charset="0"/>
              </a:rPr>
              <a:t>Inline CSS</a:t>
            </a:r>
            <a:endParaRPr lang="en-IN" sz="2400" dirty="0">
              <a:effectLst/>
              <a:latin typeface="Times New Roman" panose="02020603050405020304" pitchFamily="18" charset="0"/>
              <a:ea typeface="Times New Roman" panose="02020603050405020304" pitchFamily="18" charset="0"/>
            </a:endParaRPr>
          </a:p>
          <a:p>
            <a:pPr lvl="1" indent="-342900">
              <a:lnSpc>
                <a:spcPct val="150000"/>
              </a:lnSpc>
              <a:spcBef>
                <a:spcPts val="685"/>
              </a:spcBef>
              <a:buFont typeface="+mj-lt"/>
              <a:buAutoNum type="arabicPeriod"/>
            </a:pPr>
            <a:r>
              <a:rPr lang="en-US" sz="2400" dirty="0">
                <a:solidFill>
                  <a:srgbClr val="000000"/>
                </a:solidFill>
                <a:effectLst/>
                <a:latin typeface="Times New Roman" panose="02020603050405020304" pitchFamily="18" charset="0"/>
                <a:ea typeface="Times New Roman" panose="02020603050405020304" pitchFamily="18" charset="0"/>
              </a:rPr>
              <a:t>Global CSS</a:t>
            </a:r>
            <a:endParaRPr lang="en-IN" sz="2400" dirty="0">
              <a:effectLst/>
              <a:latin typeface="Times New Roman" panose="02020603050405020304" pitchFamily="18" charset="0"/>
              <a:ea typeface="Times New Roman" panose="02020603050405020304" pitchFamily="18" charset="0"/>
            </a:endParaRPr>
          </a:p>
          <a:p>
            <a:pPr lvl="1">
              <a:buFont typeface="+mj-lt"/>
              <a:buAutoNum type="arabicPeriod"/>
            </a:pPr>
            <a:r>
              <a:rPr lang="en-US" sz="2400" dirty="0">
                <a:effectLst/>
                <a:latin typeface="Times New Roman" panose="02020603050405020304" pitchFamily="18" charset="0"/>
                <a:ea typeface="Times New Roman" panose="02020603050405020304" pitchFamily="18" charset="0"/>
              </a:rPr>
              <a:t>External CSS</a:t>
            </a:r>
            <a:r>
              <a:rPr lang="en-IN" sz="24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t>
            </a:r>
            <a:r>
              <a:rPr lang="en-IN" sz="24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IN" sz="2000" dirty="0"/>
          </a:p>
        </p:txBody>
      </p:sp>
    </p:spTree>
    <p:extLst>
      <p:ext uri="{BB962C8B-B14F-4D97-AF65-F5344CB8AC3E}">
        <p14:creationId xmlns:p14="http://schemas.microsoft.com/office/powerpoint/2010/main" val="1388059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CE76C-D3EE-7D70-2C0C-64AFAC8E864B}"/>
              </a:ext>
            </a:extLst>
          </p:cNvPr>
          <p:cNvSpPr>
            <a:spLocks noGrp="1"/>
          </p:cNvSpPr>
          <p:nvPr>
            <p:ph type="title"/>
          </p:nvPr>
        </p:nvSpPr>
        <p:spPr>
          <a:xfrm>
            <a:off x="677334" y="609600"/>
            <a:ext cx="8596668" cy="762000"/>
          </a:xfrm>
        </p:spPr>
        <p:txBody>
          <a:bodyPr>
            <a:normAutofit/>
          </a:bodyPr>
          <a:lstStyle/>
          <a:p>
            <a:r>
              <a:rPr lang="en-US" b="1" dirty="0">
                <a:effectLst/>
                <a:latin typeface="Times New Roman" panose="02020603050405020304" pitchFamily="18" charset="0"/>
                <a:ea typeface="Times New Roman" panose="02020603050405020304" pitchFamily="18" charset="0"/>
              </a:rPr>
              <a:t>RPA</a:t>
            </a:r>
            <a:r>
              <a:rPr lang="en-US" sz="2800" b="1" dirty="0">
                <a:effectLst/>
                <a:latin typeface="Times New Roman" panose="02020603050405020304" pitchFamily="18" charset="0"/>
                <a:ea typeface="Times New Roman" panose="02020603050405020304" pitchFamily="18" charset="0"/>
              </a:rPr>
              <a:t> (Robotics Process Automation)</a:t>
            </a:r>
            <a:r>
              <a:rPr lang="en-US" sz="2800" dirty="0">
                <a:effectLst/>
                <a:latin typeface="Times New Roman" panose="02020603050405020304" pitchFamily="18" charset="0"/>
                <a:ea typeface="Times New Roman" panose="02020603050405020304" pitchFamily="18" charset="0"/>
              </a:rPr>
              <a:t> </a:t>
            </a:r>
            <a:endParaRPr lang="en-IN" sz="2800" dirty="0"/>
          </a:p>
        </p:txBody>
      </p:sp>
      <p:sp>
        <p:nvSpPr>
          <p:cNvPr id="3" name="Content Placeholder 2">
            <a:extLst>
              <a:ext uri="{FF2B5EF4-FFF2-40B4-BE49-F238E27FC236}">
                <a16:creationId xmlns:a16="http://schemas.microsoft.com/office/drawing/2014/main" id="{FCBA8DE4-F40D-3601-5A50-68AFBB87EB8B}"/>
              </a:ext>
            </a:extLst>
          </p:cNvPr>
          <p:cNvSpPr>
            <a:spLocks noGrp="1"/>
          </p:cNvSpPr>
          <p:nvPr>
            <p:ph idx="1"/>
          </p:nvPr>
        </p:nvSpPr>
        <p:spPr>
          <a:xfrm>
            <a:off x="677334" y="1386840"/>
            <a:ext cx="8596668" cy="5044440"/>
          </a:xfrm>
        </p:spPr>
        <p:txBody>
          <a:bodyPr>
            <a:normAutofit/>
          </a:bodyPr>
          <a:lstStyle/>
          <a:p>
            <a:pPr marL="0" marR="152400" lvl="0" indent="0" algn="l">
              <a:lnSpc>
                <a:spcPct val="107000"/>
              </a:lnSpc>
              <a:spcAft>
                <a:spcPts val="95"/>
              </a:spcAft>
              <a:buNone/>
            </a:pPr>
            <a:r>
              <a:rPr lang="en-IN" sz="1800" b="1" dirty="0">
                <a:solidFill>
                  <a:srgbClr val="000000"/>
                </a:solidFill>
                <a:effectLst/>
                <a:latin typeface="Times New Roman" panose="02020603050405020304" pitchFamily="18" charset="0"/>
                <a:ea typeface="Times New Roman" panose="02020603050405020304" pitchFamily="18" charset="0"/>
              </a:rPr>
              <a:t> </a:t>
            </a:r>
            <a:endParaRPr lang="en-IN" sz="1800" dirty="0">
              <a:solidFill>
                <a:srgbClr val="000000"/>
              </a:solidFill>
              <a:effectLst/>
              <a:latin typeface="Times New Roman" panose="02020603050405020304" pitchFamily="18" charset="0"/>
              <a:ea typeface="Times New Roman" panose="02020603050405020304" pitchFamily="18" charset="0"/>
            </a:endParaRPr>
          </a:p>
          <a:p>
            <a:pPr marL="610870">
              <a:lnSpc>
                <a:spcPct val="150000"/>
              </a:lnSpc>
              <a:spcAft>
                <a:spcPts val="0"/>
              </a:spcAft>
            </a:pPr>
            <a:r>
              <a:rPr lang="en-US" sz="2400" b="1" dirty="0">
                <a:effectLst/>
                <a:latin typeface="Times New Roman" panose="02020603050405020304" pitchFamily="18" charset="0"/>
                <a:ea typeface="Times New Roman" panose="02020603050405020304" pitchFamily="18" charset="0"/>
              </a:rPr>
              <a:t>RPA (Robotics Process Automation)</a:t>
            </a:r>
            <a:r>
              <a:rPr lang="en-US" sz="2400" dirty="0">
                <a:effectLst/>
                <a:latin typeface="Times New Roman" panose="02020603050405020304" pitchFamily="18" charset="0"/>
                <a:ea typeface="Times New Roman" panose="02020603050405020304" pitchFamily="18" charset="0"/>
              </a:rPr>
              <a:t> which allows organizations to automate task just like a human being was doing them across application and systems. The purpose of RPA is to transfer the process execution from humans to bots. Robotic process automation interacts with the existing IT architecture with no complex system integration required.</a:t>
            </a:r>
            <a:endParaRPr lang="en-IN" sz="24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436975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CE76C-D3EE-7D70-2C0C-64AFAC8E864B}"/>
              </a:ext>
            </a:extLst>
          </p:cNvPr>
          <p:cNvSpPr>
            <a:spLocks noGrp="1"/>
          </p:cNvSpPr>
          <p:nvPr>
            <p:ph type="title"/>
          </p:nvPr>
        </p:nvSpPr>
        <p:spPr>
          <a:xfrm>
            <a:off x="677334" y="609600"/>
            <a:ext cx="8596668" cy="762000"/>
          </a:xfrm>
        </p:spPr>
        <p:txBody>
          <a:bodyPr>
            <a:normAutofit/>
          </a:bodyPr>
          <a:lstStyle/>
          <a:p>
            <a:r>
              <a:rPr lang="en-US" sz="4400" b="1" dirty="0">
                <a:effectLst/>
                <a:latin typeface="Times New Roman" panose="02020603050405020304" pitchFamily="18" charset="0"/>
                <a:ea typeface="Times New Roman" panose="02020603050405020304" pitchFamily="18" charset="0"/>
              </a:rPr>
              <a:t>RPA</a:t>
            </a:r>
            <a:r>
              <a:rPr lang="en-US" sz="2800" b="1" dirty="0">
                <a:effectLst/>
                <a:latin typeface="Times New Roman" panose="02020603050405020304" pitchFamily="18" charset="0"/>
                <a:ea typeface="Times New Roman" panose="02020603050405020304" pitchFamily="18" charset="0"/>
              </a:rPr>
              <a:t> (Robotics Process Automation)</a:t>
            </a:r>
            <a:r>
              <a:rPr lang="en-US" sz="2800" dirty="0">
                <a:effectLst/>
                <a:latin typeface="Times New Roman" panose="02020603050405020304" pitchFamily="18" charset="0"/>
                <a:ea typeface="Times New Roman" panose="02020603050405020304" pitchFamily="18" charset="0"/>
              </a:rPr>
              <a:t> </a:t>
            </a:r>
            <a:endParaRPr lang="en-IN" sz="2800" dirty="0"/>
          </a:p>
        </p:txBody>
      </p:sp>
      <p:sp>
        <p:nvSpPr>
          <p:cNvPr id="3" name="Content Placeholder 2">
            <a:extLst>
              <a:ext uri="{FF2B5EF4-FFF2-40B4-BE49-F238E27FC236}">
                <a16:creationId xmlns:a16="http://schemas.microsoft.com/office/drawing/2014/main" id="{FCBA8DE4-F40D-3601-5A50-68AFBB87EB8B}"/>
              </a:ext>
            </a:extLst>
          </p:cNvPr>
          <p:cNvSpPr>
            <a:spLocks noGrp="1"/>
          </p:cNvSpPr>
          <p:nvPr>
            <p:ph idx="1"/>
          </p:nvPr>
        </p:nvSpPr>
        <p:spPr>
          <a:xfrm>
            <a:off x="677334" y="1341120"/>
            <a:ext cx="9259146" cy="5044440"/>
          </a:xfrm>
        </p:spPr>
        <p:txBody>
          <a:bodyPr>
            <a:normAutofit/>
          </a:bodyPr>
          <a:lstStyle/>
          <a:p>
            <a:pPr marL="0" marR="152400" lvl="0" indent="0" algn="l">
              <a:lnSpc>
                <a:spcPct val="107000"/>
              </a:lnSpc>
              <a:spcAft>
                <a:spcPts val="95"/>
              </a:spcAft>
              <a:buNone/>
            </a:pPr>
            <a:r>
              <a:rPr lang="en-IN" sz="1800" b="1" dirty="0">
                <a:solidFill>
                  <a:srgbClr val="000000"/>
                </a:solidFill>
                <a:effectLst/>
                <a:latin typeface="Times New Roman" panose="02020603050405020304" pitchFamily="18" charset="0"/>
                <a:ea typeface="Times New Roman" panose="02020603050405020304" pitchFamily="18" charset="0"/>
              </a:rPr>
              <a:t> </a:t>
            </a:r>
            <a:endParaRPr lang="en-IN" sz="1800" dirty="0">
              <a:solidFill>
                <a:srgbClr val="000000"/>
              </a:solidFill>
              <a:effectLst/>
              <a:latin typeface="Times New Roman" panose="02020603050405020304" pitchFamily="18" charset="0"/>
              <a:ea typeface="Times New Roman" panose="02020603050405020304" pitchFamily="18" charset="0"/>
            </a:endParaRPr>
          </a:p>
          <a:p>
            <a:pPr marL="0" indent="0">
              <a:buNone/>
            </a:pPr>
            <a:r>
              <a:rPr lang="en-US" sz="2400" b="1" dirty="0">
                <a:effectLst/>
                <a:latin typeface="Times New Roman" panose="02020603050405020304" pitchFamily="18" charset="0"/>
                <a:ea typeface="Times New Roman" panose="02020603050405020304" pitchFamily="18" charset="0"/>
              </a:rPr>
              <a:t>RPA</a:t>
            </a:r>
            <a:r>
              <a:rPr lang="en-US" sz="2400" dirty="0">
                <a:effectLst/>
                <a:latin typeface="Times New Roman" panose="02020603050405020304" pitchFamily="18" charset="0"/>
                <a:ea typeface="Times New Roman" panose="02020603050405020304" pitchFamily="18" charset="0"/>
              </a:rPr>
              <a:t> automation can be used to automate workflow, infrastructure, back office process which are labor intensive. These software bots can interact with an in-house application, website, user portal, etc. RPA stands for Robotic Process Automation. The Robotic Process Automation is a software program which runs on an end user’s pc, laptop or mobile device. It is a sequence of commands which are executed by Bots under some defined set of business rules. The main goal of Robotics process automation process to replace repetitive and boring clerical task performed by humans, with a virtual workforce. RPA automation does not require the development of code, nor does it require direct access to the code or database of the applications.</a:t>
            </a:r>
            <a:endParaRPr lang="en-IN" sz="24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020069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6BAD7-A267-9323-516B-284F2730DCC8}"/>
              </a:ext>
            </a:extLst>
          </p:cNvPr>
          <p:cNvSpPr>
            <a:spLocks noGrp="1"/>
          </p:cNvSpPr>
          <p:nvPr>
            <p:ph type="title"/>
          </p:nvPr>
        </p:nvSpPr>
        <p:spPr>
          <a:xfrm>
            <a:off x="677334" y="624840"/>
            <a:ext cx="8596668" cy="883920"/>
          </a:xfrm>
        </p:spPr>
        <p:txBody>
          <a:bodyPr>
            <a:noAutofit/>
          </a:bodyPr>
          <a:lstStyle/>
          <a:p>
            <a:r>
              <a:rPr lang="en-IN" sz="4400" dirty="0"/>
              <a:t>Android</a:t>
            </a:r>
          </a:p>
        </p:txBody>
      </p:sp>
      <p:sp>
        <p:nvSpPr>
          <p:cNvPr id="3" name="Content Placeholder 2">
            <a:extLst>
              <a:ext uri="{FF2B5EF4-FFF2-40B4-BE49-F238E27FC236}">
                <a16:creationId xmlns:a16="http://schemas.microsoft.com/office/drawing/2014/main" id="{3C74DB61-390E-651B-CAF1-BC31F740320E}"/>
              </a:ext>
            </a:extLst>
          </p:cNvPr>
          <p:cNvSpPr>
            <a:spLocks noGrp="1"/>
          </p:cNvSpPr>
          <p:nvPr>
            <p:ph idx="1"/>
          </p:nvPr>
        </p:nvSpPr>
        <p:spPr>
          <a:xfrm>
            <a:off x="677334" y="1691640"/>
            <a:ext cx="9701106" cy="4099560"/>
          </a:xfrm>
        </p:spPr>
        <p:txBody>
          <a:bodyPr>
            <a:normAutofit/>
          </a:bodyPr>
          <a:lstStyle/>
          <a:p>
            <a:pPr marL="0" marR="152400" indent="0" algn="just">
              <a:lnSpc>
                <a:spcPct val="107000"/>
              </a:lnSpc>
              <a:spcAft>
                <a:spcPts val="2265"/>
              </a:spcAft>
              <a:buNone/>
            </a:pPr>
            <a:r>
              <a:rPr lang="en-IN" sz="1800" dirty="0">
                <a:solidFill>
                  <a:srgbClr val="000000"/>
                </a:solidFill>
                <a:effectLst/>
                <a:latin typeface="Times New Roman" panose="02020603050405020304" pitchFamily="18" charset="0"/>
                <a:ea typeface="Times New Roman" panose="02020603050405020304" pitchFamily="18" charset="0"/>
              </a:rPr>
              <a:t>  </a:t>
            </a:r>
            <a:r>
              <a:rPr lang="en-US" sz="2800" dirty="0">
                <a:solidFill>
                  <a:srgbClr val="000000"/>
                </a:solidFill>
                <a:effectLst/>
                <a:latin typeface="Times New Roman" panose="02020603050405020304" pitchFamily="18" charset="0"/>
                <a:ea typeface="Times New Roman" panose="02020603050405020304" pitchFamily="18" charset="0"/>
              </a:rPr>
              <a:t>Android is an open source and Linux-based operating system for mobile devices such as smartphones and tablet computers. Android was developed by the Open Handset Alliance, led by Google, and other companies. This tutorial will teach you basic Android programming and will also take you through some advance concepts related to Android application development</a:t>
            </a:r>
            <a:r>
              <a:rPr lang="en-US" sz="2400" dirty="0">
                <a:solidFill>
                  <a:srgbClr val="000000"/>
                </a:solidFill>
                <a:effectLst/>
                <a:latin typeface="Times New Roman" panose="02020603050405020304" pitchFamily="18" charset="0"/>
                <a:ea typeface="Times New Roman" panose="02020603050405020304" pitchFamily="18" charset="0"/>
              </a:rPr>
              <a:t>.</a:t>
            </a:r>
            <a:endParaRPr lang="en-IN" sz="2400" dirty="0">
              <a:effectLst/>
              <a:latin typeface="Times New Roman" panose="02020603050405020304" pitchFamily="18" charset="0"/>
              <a:ea typeface="Times New Roman" panose="02020603050405020304" pitchFamily="18" charset="0"/>
            </a:endParaRPr>
          </a:p>
          <a:p>
            <a:pPr marL="0" marR="152400" lvl="0" indent="0" algn="just">
              <a:lnSpc>
                <a:spcPct val="107000"/>
              </a:lnSpc>
              <a:spcAft>
                <a:spcPts val="2265"/>
              </a:spcAft>
              <a:buNone/>
            </a:pPr>
            <a:endParaRPr lang="en-IN" dirty="0"/>
          </a:p>
        </p:txBody>
      </p:sp>
    </p:spTree>
    <p:extLst>
      <p:ext uri="{BB962C8B-B14F-4D97-AF65-F5344CB8AC3E}">
        <p14:creationId xmlns:p14="http://schemas.microsoft.com/office/powerpoint/2010/main" val="1518511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5BE9-898A-D524-472D-B13F5B71C990}"/>
              </a:ext>
            </a:extLst>
          </p:cNvPr>
          <p:cNvSpPr>
            <a:spLocks noGrp="1"/>
          </p:cNvSpPr>
          <p:nvPr>
            <p:ph type="title"/>
          </p:nvPr>
        </p:nvSpPr>
        <p:spPr>
          <a:xfrm>
            <a:off x="1310640" y="701040"/>
            <a:ext cx="10881360" cy="2727960"/>
          </a:xfrm>
        </p:spPr>
        <p:txBody>
          <a:bodyPr>
            <a:normAutofit/>
          </a:bodyPr>
          <a:lstStyle/>
          <a:p>
            <a:r>
              <a:rPr lang="en-IN" sz="4800" b="1" kern="100" dirty="0">
                <a:solidFill>
                  <a:schemeClr val="accent1">
                    <a:lumMod val="75000"/>
                  </a:schemeClr>
                </a:solidFill>
                <a:effectLst/>
                <a:latin typeface="Times New Roman" panose="02020603050405020304" pitchFamily="18" charset="0"/>
                <a:ea typeface="Times New Roman" panose="02020603050405020304" pitchFamily="18" charset="0"/>
              </a:rPr>
              <a:t>            Worked On Project </a:t>
            </a:r>
            <a:br>
              <a:rPr lang="en-IN" sz="4800" b="1" kern="100" dirty="0">
                <a:solidFill>
                  <a:schemeClr val="accent1">
                    <a:lumMod val="75000"/>
                  </a:schemeClr>
                </a:solidFill>
                <a:effectLst/>
                <a:latin typeface="Times New Roman" panose="02020603050405020304" pitchFamily="18" charset="0"/>
                <a:ea typeface="Times New Roman" panose="02020603050405020304" pitchFamily="18" charset="0"/>
              </a:rPr>
            </a:br>
            <a:r>
              <a:rPr lang="en-IN" sz="4800" b="1" kern="100" dirty="0">
                <a:solidFill>
                  <a:schemeClr val="accent1">
                    <a:lumMod val="75000"/>
                  </a:schemeClr>
                </a:solidFill>
                <a:effectLst/>
                <a:latin typeface="Times New Roman" panose="02020603050405020304" pitchFamily="18" charset="0"/>
                <a:ea typeface="Times New Roman" panose="02020603050405020304" pitchFamily="18" charset="0"/>
              </a:rPr>
              <a:t>                         in</a:t>
            </a:r>
            <a:br>
              <a:rPr lang="en-IN" sz="4800" b="1" kern="100" dirty="0">
                <a:solidFill>
                  <a:schemeClr val="accent1">
                    <a:lumMod val="75000"/>
                  </a:schemeClr>
                </a:solidFill>
                <a:effectLst/>
                <a:latin typeface="Times New Roman" panose="02020603050405020304" pitchFamily="18" charset="0"/>
                <a:ea typeface="Times New Roman" panose="02020603050405020304" pitchFamily="18" charset="0"/>
              </a:rPr>
            </a:br>
            <a:r>
              <a:rPr lang="en-IN" sz="4800" b="1" kern="100" dirty="0">
                <a:solidFill>
                  <a:schemeClr val="accent1">
                    <a:lumMod val="75000"/>
                  </a:schemeClr>
                </a:solidFill>
                <a:effectLst/>
                <a:latin typeface="Times New Roman" panose="02020603050405020304" pitchFamily="18" charset="0"/>
                <a:ea typeface="Times New Roman" panose="02020603050405020304" pitchFamily="18" charset="0"/>
              </a:rPr>
              <a:t>         </a:t>
            </a:r>
            <a:r>
              <a:rPr lang="en-IN" sz="4800" b="1" dirty="0">
                <a:solidFill>
                  <a:schemeClr val="accent1">
                    <a:lumMod val="75000"/>
                  </a:schemeClr>
                </a:solidFill>
                <a:effectLst/>
                <a:latin typeface="Times New Roman" panose="02020603050405020304" pitchFamily="18" charset="0"/>
                <a:ea typeface="Times New Roman" panose="02020603050405020304" pitchFamily="18" charset="0"/>
              </a:rPr>
              <a:t>Training (Short Report) </a:t>
            </a:r>
            <a:endParaRPr lang="en-IN" sz="4800" dirty="0">
              <a:solidFill>
                <a:schemeClr val="accent1">
                  <a:lumMod val="75000"/>
                </a:schemeClr>
              </a:solidFill>
            </a:endParaRPr>
          </a:p>
        </p:txBody>
      </p:sp>
      <p:sp>
        <p:nvSpPr>
          <p:cNvPr id="5" name="TextBox 4">
            <a:extLst>
              <a:ext uri="{FF2B5EF4-FFF2-40B4-BE49-F238E27FC236}">
                <a16:creationId xmlns:a16="http://schemas.microsoft.com/office/drawing/2014/main" id="{BDB7A697-250D-DB5B-87C3-AD62447E8F38}"/>
              </a:ext>
            </a:extLst>
          </p:cNvPr>
          <p:cNvSpPr txBox="1"/>
          <p:nvPr/>
        </p:nvSpPr>
        <p:spPr>
          <a:xfrm>
            <a:off x="1310640" y="3977640"/>
            <a:ext cx="8945880" cy="583750"/>
          </a:xfrm>
          <a:prstGeom prst="rect">
            <a:avLst/>
          </a:prstGeom>
          <a:noFill/>
        </p:spPr>
        <p:txBody>
          <a:bodyPr wrap="square" rtlCol="0">
            <a:spAutoFit/>
          </a:bodyPr>
          <a:lstStyle/>
          <a:p>
            <a:pPr marL="408940" marR="61595" indent="-6350" algn="l">
              <a:lnSpc>
                <a:spcPct val="107000"/>
              </a:lnSpc>
              <a:spcAft>
                <a:spcPts val="575"/>
              </a:spcAft>
            </a:pPr>
            <a:r>
              <a:rPr lang="en-IN" sz="3200" u="sng" kern="100" dirty="0">
                <a:solidFill>
                  <a:srgbClr val="000000"/>
                </a:solidFill>
                <a:effectLst/>
                <a:latin typeface="Times New Roman" panose="02020603050405020304" pitchFamily="18" charset="0"/>
                <a:ea typeface="Calibri" panose="020F0502020204030204" pitchFamily="34" charset="0"/>
              </a:rPr>
              <a:t>WEARHER REPORT USING OPEN BROWSER</a:t>
            </a:r>
            <a:endParaRPr lang="en-IN" sz="3200" kern="1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47314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8FC623-2DBB-5300-FAF6-94A571C5F39F}"/>
              </a:ext>
            </a:extLst>
          </p:cNvPr>
          <p:cNvSpPr>
            <a:spLocks noGrp="1"/>
          </p:cNvSpPr>
          <p:nvPr>
            <p:ph idx="1"/>
          </p:nvPr>
        </p:nvSpPr>
        <p:spPr>
          <a:xfrm>
            <a:off x="723054" y="545149"/>
            <a:ext cx="9929706" cy="5901371"/>
          </a:xfrm>
        </p:spPr>
        <p:txBody>
          <a:bodyPr>
            <a:normAutofit/>
          </a:bodyPr>
          <a:lstStyle/>
          <a:p>
            <a:pPr marL="0" marR="681355" indent="0">
              <a:lnSpc>
                <a:spcPct val="107000"/>
              </a:lnSpc>
              <a:spcAft>
                <a:spcPts val="285"/>
              </a:spcAft>
              <a:buSzPts val="1400"/>
              <a:buNone/>
            </a:pPr>
            <a:r>
              <a:rPr lang="en-IN" sz="3200" b="1" kern="100" dirty="0">
                <a:solidFill>
                  <a:srgbClr val="000000"/>
                </a:solidFill>
                <a:effectLst/>
                <a:latin typeface="Times New Roman" panose="02020603050405020304" pitchFamily="18" charset="0"/>
                <a:ea typeface="Times New Roman" panose="02020603050405020304" pitchFamily="18" charset="0"/>
              </a:rPr>
              <a:t>Reading browser data: (Version 1)  </a:t>
            </a:r>
            <a:endParaRPr lang="en-US" sz="3200" b="1" kern="100" dirty="0">
              <a:solidFill>
                <a:srgbClr val="000000"/>
              </a:solidFill>
              <a:effectLst/>
              <a:latin typeface="Times New Roman" panose="02020603050405020304" pitchFamily="18" charset="0"/>
              <a:ea typeface="Times New Roman" panose="02020603050405020304" pitchFamily="18" charset="0"/>
            </a:endParaRPr>
          </a:p>
          <a:p>
            <a:pPr marL="0" marR="681355" indent="0">
              <a:lnSpc>
                <a:spcPct val="107000"/>
              </a:lnSpc>
              <a:spcAft>
                <a:spcPts val="285"/>
              </a:spcAft>
              <a:buSzPts val="1400"/>
              <a:buNone/>
            </a:pPr>
            <a:r>
              <a:rPr lang="en-IN" sz="2400" kern="100" dirty="0">
                <a:solidFill>
                  <a:srgbClr val="000000"/>
                </a:solidFill>
                <a:effectLst/>
                <a:latin typeface="Times New Roman" panose="02020603050405020304" pitchFamily="18" charset="0"/>
                <a:ea typeface="Times New Roman" panose="02020603050405020304" pitchFamily="18" charset="0"/>
              </a:rPr>
              <a:t>Created a process which will read the data from browser ,filter out the data of given information and store the data in the excel file. </a:t>
            </a:r>
          </a:p>
          <a:p>
            <a:pPr marL="0" marR="681355" lvl="0" indent="0" algn="l" fontAlgn="base">
              <a:lnSpc>
                <a:spcPct val="107000"/>
              </a:lnSpc>
              <a:spcAft>
                <a:spcPts val="310"/>
              </a:spcAft>
              <a:buClr>
                <a:srgbClr val="000000"/>
              </a:buClr>
              <a:buSzPts val="1400"/>
              <a:buNone/>
            </a:pPr>
            <a:r>
              <a:rPr lang="en-IN" sz="3200" b="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Accessing data from browser(Version-2)  </a:t>
            </a:r>
            <a:endParaRPr lang="en-US" sz="3200" b="1" kern="100" dirty="0">
              <a:solidFill>
                <a:srgbClr val="000000"/>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marL="0" marR="681355" lvl="0" indent="0" algn="l" fontAlgn="base">
              <a:lnSpc>
                <a:spcPct val="107000"/>
              </a:lnSpc>
              <a:spcAft>
                <a:spcPts val="310"/>
              </a:spcAft>
              <a:buClr>
                <a:srgbClr val="000000"/>
              </a:buClr>
              <a:buSzPts val="1400"/>
              <a:buNone/>
            </a:pPr>
            <a:r>
              <a:rPr lang="en-IN" sz="2400" kern="100" dirty="0">
                <a:solidFill>
                  <a:srgbClr val="000000"/>
                </a:solidFill>
                <a:effectLst/>
                <a:latin typeface="Times New Roman" panose="02020603050405020304" pitchFamily="18" charset="0"/>
                <a:ea typeface="Times New Roman" panose="02020603050405020304" pitchFamily="18" charset="0"/>
              </a:rPr>
              <a:t>After creating a process index will go to browser and collect the information as per parameters and access that data .</a:t>
            </a:r>
          </a:p>
          <a:p>
            <a:pPr marL="0" marR="681355" lvl="0" indent="0" algn="l" fontAlgn="base">
              <a:lnSpc>
                <a:spcPct val="107000"/>
              </a:lnSpc>
              <a:spcAft>
                <a:spcPts val="260"/>
              </a:spcAft>
              <a:buClr>
                <a:srgbClr val="000000"/>
              </a:buClr>
              <a:buSzPts val="1400"/>
              <a:buNone/>
            </a:pPr>
            <a:r>
              <a:rPr lang="en-IN" sz="3200" b="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Creating complete process (Final Bot)  </a:t>
            </a:r>
            <a:endParaRPr lang="en-US" sz="3200" b="1" kern="100" dirty="0">
              <a:solidFill>
                <a:srgbClr val="000000"/>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marL="0" marR="681355" lvl="0" indent="0" algn="l" fontAlgn="base">
              <a:lnSpc>
                <a:spcPct val="107000"/>
              </a:lnSpc>
              <a:spcAft>
                <a:spcPts val="260"/>
              </a:spcAft>
              <a:buClr>
                <a:srgbClr val="000000"/>
              </a:buClr>
              <a:buSzPts val="1400"/>
              <a:buNone/>
            </a:pPr>
            <a:r>
              <a:rPr lang="en-IN" sz="2400" kern="100" dirty="0">
                <a:solidFill>
                  <a:srgbClr val="000000"/>
                </a:solidFill>
                <a:effectLst/>
                <a:latin typeface="Times New Roman" panose="02020603050405020304" pitchFamily="18" charset="0"/>
                <a:ea typeface="Times New Roman" panose="02020603050405020304" pitchFamily="18" charset="0"/>
              </a:rPr>
              <a:t>After collecting information from browser it will get stored to the created excel file</a:t>
            </a:r>
            <a:r>
              <a:rPr lang="en-IN" sz="2800" kern="100" dirty="0">
                <a:solidFill>
                  <a:srgbClr val="000000"/>
                </a:solidFill>
                <a:effectLst/>
                <a:latin typeface="Times New Roman" panose="02020603050405020304" pitchFamily="18" charset="0"/>
                <a:ea typeface="Times New Roman" panose="02020603050405020304" pitchFamily="18" charset="0"/>
              </a:rPr>
              <a:t>.</a:t>
            </a:r>
          </a:p>
          <a:p>
            <a:pPr marL="0" indent="0">
              <a:buNone/>
            </a:pPr>
            <a:endParaRPr lang="en-IN" dirty="0"/>
          </a:p>
        </p:txBody>
      </p:sp>
    </p:spTree>
    <p:extLst>
      <p:ext uri="{BB962C8B-B14F-4D97-AF65-F5344CB8AC3E}">
        <p14:creationId xmlns:p14="http://schemas.microsoft.com/office/powerpoint/2010/main" val="1938746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CF984-1DA3-AC88-627B-570705B84D80}"/>
              </a:ext>
            </a:extLst>
          </p:cNvPr>
          <p:cNvSpPr>
            <a:spLocks noGrp="1"/>
          </p:cNvSpPr>
          <p:nvPr>
            <p:ph type="title"/>
          </p:nvPr>
        </p:nvSpPr>
        <p:spPr/>
        <p:txBody>
          <a:bodyPr/>
          <a:lstStyle/>
          <a:p>
            <a:r>
              <a:rPr lang="en-IN" sz="3600" b="1" kern="100" dirty="0">
                <a:solidFill>
                  <a:srgbClr val="000000"/>
                </a:solidFill>
                <a:effectLst/>
                <a:latin typeface="Times New Roman" panose="02020603050405020304" pitchFamily="18" charset="0"/>
                <a:ea typeface="Times New Roman" panose="02020603050405020304" pitchFamily="18" charset="0"/>
              </a:rPr>
              <a:t>Reading browser data: (Version 1)  </a:t>
            </a:r>
            <a:br>
              <a:rPr lang="en-IN" sz="3600" kern="100" dirty="0">
                <a:solidFill>
                  <a:srgbClr val="000000"/>
                </a:solidFill>
                <a:effectLst/>
                <a:latin typeface="Times New Roman" panose="02020603050405020304" pitchFamily="18" charset="0"/>
                <a:ea typeface="Times New Roman" panose="02020603050405020304" pitchFamily="18" charset="0"/>
              </a:rPr>
            </a:br>
            <a:endParaRPr lang="en-IN" dirty="0"/>
          </a:p>
        </p:txBody>
      </p:sp>
      <p:pic>
        <p:nvPicPr>
          <p:cNvPr id="4" name="Content Placeholder 3">
            <a:extLst>
              <a:ext uri="{FF2B5EF4-FFF2-40B4-BE49-F238E27FC236}">
                <a16:creationId xmlns:a16="http://schemas.microsoft.com/office/drawing/2014/main" id="{1CA4D921-72AC-EBA6-1456-C996A247F7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1187" y="2160588"/>
            <a:ext cx="6129663" cy="3881437"/>
          </a:xfrm>
          <a:prstGeom prst="rect">
            <a:avLst/>
          </a:prstGeom>
        </p:spPr>
      </p:pic>
    </p:spTree>
    <p:extLst>
      <p:ext uri="{BB962C8B-B14F-4D97-AF65-F5344CB8AC3E}">
        <p14:creationId xmlns:p14="http://schemas.microsoft.com/office/powerpoint/2010/main" val="3267707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8E353-A3A0-2BDB-A3C4-F1A854473BD8}"/>
              </a:ext>
            </a:extLst>
          </p:cNvPr>
          <p:cNvSpPr>
            <a:spLocks noGrp="1"/>
          </p:cNvSpPr>
          <p:nvPr>
            <p:ph type="title"/>
          </p:nvPr>
        </p:nvSpPr>
        <p:spPr/>
        <p:txBody>
          <a:bodyPr/>
          <a:lstStyle/>
          <a:p>
            <a:r>
              <a:rPr lang="en-IN" sz="3600" b="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Accessing data from browser(Version-2)  </a:t>
            </a:r>
            <a:br>
              <a:rPr lang="en-IN" sz="36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br>
            <a:endParaRPr lang="en-IN" dirty="0"/>
          </a:p>
        </p:txBody>
      </p:sp>
      <p:pic>
        <p:nvPicPr>
          <p:cNvPr id="4" name="Content Placeholder 3">
            <a:extLst>
              <a:ext uri="{FF2B5EF4-FFF2-40B4-BE49-F238E27FC236}">
                <a16:creationId xmlns:a16="http://schemas.microsoft.com/office/drawing/2014/main" id="{1239CBAD-1B60-BD05-C5DC-A87712070D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70128" y="2266415"/>
            <a:ext cx="3131711" cy="2661186"/>
          </a:xfrm>
          <a:prstGeom prst="rect">
            <a:avLst/>
          </a:prstGeom>
        </p:spPr>
      </p:pic>
    </p:spTree>
    <p:extLst>
      <p:ext uri="{BB962C8B-B14F-4D97-AF65-F5344CB8AC3E}">
        <p14:creationId xmlns:p14="http://schemas.microsoft.com/office/powerpoint/2010/main" val="3507746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0814-CFBA-F2DB-5478-0F6A455DB46F}"/>
              </a:ext>
            </a:extLst>
          </p:cNvPr>
          <p:cNvSpPr>
            <a:spLocks noGrp="1"/>
          </p:cNvSpPr>
          <p:nvPr>
            <p:ph type="title"/>
          </p:nvPr>
        </p:nvSpPr>
        <p:spPr/>
        <p:txBody>
          <a:bodyPr/>
          <a:lstStyle/>
          <a:p>
            <a:r>
              <a:rPr lang="en-IN" sz="3600" b="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Creating complete process (Final Bot)  </a:t>
            </a:r>
            <a:br>
              <a:rPr lang="en-IN" sz="36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br>
            <a:endParaRPr lang="en-IN" dirty="0"/>
          </a:p>
        </p:txBody>
      </p:sp>
      <p:pic>
        <p:nvPicPr>
          <p:cNvPr id="4" name="Content Placeholder 3">
            <a:extLst>
              <a:ext uri="{FF2B5EF4-FFF2-40B4-BE49-F238E27FC236}">
                <a16:creationId xmlns:a16="http://schemas.microsoft.com/office/drawing/2014/main" id="{D23A1F36-5BF1-32D7-4455-2C5FE8FE75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7280" y="1645920"/>
            <a:ext cx="8176721" cy="4396105"/>
          </a:xfrm>
          <a:prstGeom prst="rect">
            <a:avLst/>
          </a:prstGeom>
        </p:spPr>
      </p:pic>
    </p:spTree>
    <p:extLst>
      <p:ext uri="{BB962C8B-B14F-4D97-AF65-F5344CB8AC3E}">
        <p14:creationId xmlns:p14="http://schemas.microsoft.com/office/powerpoint/2010/main" val="852850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3896A-42BA-4E52-583B-6B43D9187A2B}"/>
              </a:ext>
            </a:extLst>
          </p:cNvPr>
          <p:cNvSpPr>
            <a:spLocks noGrp="1"/>
          </p:cNvSpPr>
          <p:nvPr>
            <p:ph type="title"/>
          </p:nvPr>
        </p:nvSpPr>
        <p:spPr>
          <a:xfrm>
            <a:off x="2917999" y="2768081"/>
            <a:ext cx="8596668" cy="3505200"/>
          </a:xfrm>
        </p:spPr>
        <p:txBody>
          <a:bodyPr>
            <a:normAutofit/>
          </a:bodyPr>
          <a:lstStyle/>
          <a:p>
            <a:r>
              <a:rPr lang="en-US" sz="6000" dirty="0">
                <a:ln w="0"/>
                <a:solidFill>
                  <a:schemeClr val="tx1">
                    <a:lumMod val="95000"/>
                    <a:lumOff val="5000"/>
                  </a:schemeClr>
                </a:solidFill>
                <a:effectLst>
                  <a:reflection blurRad="6350" stA="53000" endA="300" endPos="35500" dir="5400000" sy="-90000" algn="bl" rotWithShape="0"/>
                </a:effectLst>
                <a:latin typeface="Century" panose="02040604050505020304" pitchFamily="18" charset="0"/>
              </a:rPr>
              <a:t>THANK YOU</a:t>
            </a:r>
            <a:endParaRPr lang="en-IN" sz="6000" dirty="0"/>
          </a:p>
        </p:txBody>
      </p:sp>
      <p:sp>
        <p:nvSpPr>
          <p:cNvPr id="3" name="Content Placeholder 2">
            <a:extLst>
              <a:ext uri="{FF2B5EF4-FFF2-40B4-BE49-F238E27FC236}">
                <a16:creationId xmlns:a16="http://schemas.microsoft.com/office/drawing/2014/main" id="{18095C18-A8FC-9197-ED68-30E42A76756A}"/>
              </a:ext>
            </a:extLst>
          </p:cNvPr>
          <p:cNvSpPr>
            <a:spLocks noGrp="1"/>
          </p:cNvSpPr>
          <p:nvPr>
            <p:ph idx="1"/>
          </p:nvPr>
        </p:nvSpPr>
        <p:spPr>
          <a:xfrm>
            <a:off x="3321698" y="5551714"/>
            <a:ext cx="5952303" cy="489648"/>
          </a:xfrm>
        </p:spPr>
        <p:txBody>
          <a:bodyPr/>
          <a:lstStyle/>
          <a:p>
            <a:pPr marL="0" indent="0">
              <a:buNone/>
            </a:pPr>
            <a:r>
              <a:rPr lang="en-IN" dirty="0">
                <a:solidFill>
                  <a:schemeClr val="bg1"/>
                </a:solidFill>
              </a:rPr>
              <a:t>s</a:t>
            </a:r>
          </a:p>
        </p:txBody>
      </p:sp>
    </p:spTree>
    <p:extLst>
      <p:ext uri="{BB962C8B-B14F-4D97-AF65-F5344CB8AC3E}">
        <p14:creationId xmlns:p14="http://schemas.microsoft.com/office/powerpoint/2010/main" val="2338225540"/>
      </p:ext>
    </p:extLst>
  </p:cSld>
  <p:clrMapOvr>
    <a:masterClrMapping/>
  </p:clrMapOvr>
</p:sld>
</file>

<file path=ppt/theme/theme1.xml><?xml version="1.0" encoding="utf-8"?>
<a:theme xmlns:a="http://schemas.openxmlformats.org/drawingml/2006/main" name="Facet">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231</TotalTime>
  <Words>656</Words>
  <Application>Microsoft Office PowerPoint</Application>
  <PresentationFormat>Widescreen</PresentationFormat>
  <Paragraphs>60</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Century</vt:lpstr>
      <vt:lpstr>Times New Roman</vt:lpstr>
      <vt:lpstr>Trebuchet MS</vt:lpstr>
      <vt:lpstr>Wingdings 3</vt:lpstr>
      <vt:lpstr>Facet</vt:lpstr>
      <vt:lpstr>WEL-COME</vt:lpstr>
      <vt:lpstr> GOVERNMENT POLYTECHNIC ,KARAD </vt:lpstr>
      <vt:lpstr>Contents</vt:lpstr>
      <vt:lpstr>                     Technology                           Used                       in Training    </vt:lpstr>
      <vt:lpstr>PowerPoint Presentation</vt:lpstr>
      <vt:lpstr>                 Technology                    Taught         During the Training  </vt:lpstr>
      <vt:lpstr>HTML(Hyper Text Mark-up Language) </vt:lpstr>
      <vt:lpstr>CSS(Cascading Style Sheets)</vt:lpstr>
      <vt:lpstr>RPA (Robotics Process Automation) </vt:lpstr>
      <vt:lpstr>RPA (Robotics Process Automation) </vt:lpstr>
      <vt:lpstr>Android</vt:lpstr>
      <vt:lpstr>            Worked On Project                           in          Training (Short Report) </vt:lpstr>
      <vt:lpstr>PowerPoint Presentation</vt:lpstr>
      <vt:lpstr>Reading browser data: (Version 1)   </vt:lpstr>
      <vt:lpstr>Accessing data from browser(Version-2)   </vt:lpstr>
      <vt:lpstr>Creating complete process (Final Bot)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Sakshi Nande</dc:creator>
  <cp:lastModifiedBy>Manaswi Bidkar</cp:lastModifiedBy>
  <cp:revision>9</cp:revision>
  <dcterms:created xsi:type="dcterms:W3CDTF">2023-05-05T07:00:05Z</dcterms:created>
  <dcterms:modified xsi:type="dcterms:W3CDTF">2026-02-05T18:07:08Z</dcterms:modified>
</cp:coreProperties>
</file>